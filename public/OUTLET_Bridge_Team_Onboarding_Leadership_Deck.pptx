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1" d="100"/>
          <a:sy n="81" d="100"/>
        </p:scale>
        <p:origin x="462"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074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TALK TRACK:,First, thank you all for making time for this. What I am presenting today is not just a volunteer idea and not just a new title for people who already help at events. The OUTLET Bridge Team is a structured response to a very real ministry gap: people can attend OUTLET, enjoy the room, feel the energy, and still leave without becoming connected to real community.,The purpose of this team is to build the bridge between attendance and belonging. When a young adult shows up, we want them to be seen, remembered, guided, and eventually connected to the right people, the right Connect Group, and the right next step. This is about discipleship, retention, and long-term community, but it starts with simple relational intentionality.,For volunteers, this presentation explains what we do and how we do it. For Minister Nehemiah and the leadership team, this presentation shows that the Bridge Team is a ministry operations framework: it has a mission, a pipeline, responsibilities, accountability, follow-up, reviewability, and a path to improvement.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PURPOSE:,This meeting has two audiences, and I want to be clear about both. For the Bridge Team volunteers, this is an onboarding meeting. It should help everybody understand the mission, what roles exist, how we communicate, and how we actually help people move from attending OUTLET to joining community.,For ministry leadership, this is an alignment meeting. I want leadership to see that this team is not just extra hands for an event. It is a retention and discipleship infrastructure. It is designed to strengthen the OUTLET by making sure the people God is already bringing into the room have a clear path into relationships, growth, and eventually leadership.,The key outcome of this meeting is shared language. When we say Bridge Team, OPP, connection pipeline, follow-up, or exploration window, everyone should understand what those words mean and why they matter.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TEAM EXISTS:,The problem is simple but serious: attendance does not automatically produce connection. A young adult can come to OUTLET every first Friday, enjoy the service, laugh with people in the lobby, and still not have a real sense of belonging.,A lot of ministries are good at attraction. We can create a great event, get people to attend, and build momentum in the room. But the deeper question is: what happens after the event? Who follows up? Who remembers the person who came three months in a row? Who helps them understand what Connect Groups are? Who notices that they seem interested but unsure? Who walks with them from curiosity into commitment?,The Bridge Team exists to solve that specific gap. We are not replacing worship, preaching, hospitality, or Connect Group leaders. We are becoming the connective tissue between those things.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GAP:,This funnel shows that community is not one decision; it is a journey. Most people do not go from stranger to active member in one step. They usually move from event attendee to returning attendee, then familiar face, then interested individual, then Connect Group visitor, then active community member, and eventually possibly a future leader.,The problem is that people often fall off in the middle. They become familiar faces, but nobody knows enough about them to help them take the next step. Or they want community but do not know what group fits. Or they attend once, feel awkward, and never try again.,The Bridge Team owns the middle of the funnel. We are responsible for helping people cross the uncertain space between showing up and actually belonging.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YOUNG ADULTS DISCONNECT:,It is important that we do not assume people disconnect because they do not care. Many young adults disconnect because the next step feels unclear, intimidating, or socially risky. They may be dealing with anxiety, uncertainty, loneliness, past church hurt, or just not knowing how to enter an already-formed community.,A Connect Group may be the perfect solution, but if the handoff feels abrupt, the person can still avoid it. Nobody wants to feel like a project, a number, or a random signup. People want to feel known.,That means our approach must be warm, low-pressure, and observant. We are not pushing people into groups. We are learning who they are, what they care about, and what kind of environment would help them feel safe enough to keep showing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STATEMENT:,This is the clearest definition of the team: the Bridge Team exists to intentionally connect recurring OUTLET attendees into authentic community through relationship-building, guided follow-up, and Connect Group integration.,There are three important parts in that sentence. Relationship-building means we start with people, not paperwork. Guided follow-up means we do not leave the next step to chance. Connect Group integration means our goal is not just a good conversation at OUTLET; our goal is sustained community.,The word intentionally matters. This team is not passive. We are looking, listening, noticing, documenting, matching, following up, and improving. That does not mean we become robotic. It means we become faithful stewards of the people being entrusted to this ministry.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PHILOSOPHY:,Connection before commitment is the heart of the culture. We are not salespeople. We are not trying to pressure people into signing up for a group before they feel ready. We are creating a pathway where joining community feels natural, safe, and guided.,The difference is emotional. Pressure says, “Join this group.” Guidance says, “Let me help you find where you fit.” Pressure makes people feel trapped. Guidance helps people feel seen.,This also protects Connect Groups. If people are placed randomly or prematurely, they may not stay. But if they are matched thoughtfully and given room to explore, the likelihood of genuine connection increases.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EXPLORATION WINDOW:,The exploration window is one of the most important concepts in the whole model. In college, students often have a drop/add period. It gives them permission to try a class and change if it is not the right fit. I believe Connect Groups should have a similar emotional experience.,A young adult should be able to visit a group without feeling like they made a permanent commitment. They should be able to say, “This was good, but I think another group may fit me better,” without guilt. That flexibility makes the first step less intimidating.,This is not about making commitment weaker. It is about making the path into commitment healthier. Strong commitment is more likely when people feel they had room to choose and find alignment.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WALKTHROUGH:,This is the Bridge Pipeline. It begins with someone attending OUTLET. If they return or show interest, we recognize them as someone who may need a relationship touchpoint. That touchpoint is not invasive; it can be as simple as remembering their name, asking what brought them back, or learning what they enjoy.,From there, we move into interest discovery. We learn what kind of group might fit them: Bible study, food, sports, creative interests, social outings, mentorship, or something more casual. Then we recommend a Connect Group and make a soft introduction.,The trial attendance and follow-up stages are where this system becomes powerful. We do not just send them somewhere and disappear. We check in, ask how it went, see if the fit was right, and help them decide the next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RESPONSIBILITIES:,For the team to work, responsibilities must be clear. The Relationship Team focuses on presence: greeting, remembering names, building trust, and helping people feel seen. The Operations Team keeps the system organized: forms, notes, follow-ups, trackers, and communication rhythms.,The Matching Team understands Connect Groups and helps pair people based on personality, interests, and comfort level. The Follow-Up Team checks in after a recommendation or group visit to make sure nobody falls through the cracks.,These roles can overlap, especially while the team is still small. But defining them helps people know what success looks like and prevents everything from sitting on one person.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CHAIN:,This slide is about accountability. The Bridge Team needs a clear communication chain so that information flows upward, downward, and sideways without confusion.,Minister Nehemiah and ministry leadership provide oversight and spiritual direction. The Bridge Team Lead coordinates strategy, training, and execution. Coordinators help manage specific lanes. Volunteers engage people and report observations. Connect Group leaders receive introductions and provide feedback after group visits.,Escalation matters too. If someone shares a personal crisis, conflict, safety concern, or spiritual care need, that should not stay only with a volunteer. The team needs clear standards for when something gets escalated to leadership.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 INTRODUCTION:,OPP stands for Operations Pipeline Protocol. The simplest way to explain it is this: it is the operating system for the Bridge Team. It defines how we move people through the connection process, how we communicate, how we document, how we review outcomes, and how we improve.,Without an OPP, the team depends on memory and good intentions. With an OPP, the team becomes teachable, repeatable, reviewable, and scalable. That matters because if this works, it should not only work when one specific person is present. It should become a ministry system that can keep functioning as the team grows.,The OPP is not about making ministry cold. It is about making care consistent.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FAILSAFES AND CHECKS:,Leadership should feel confident that this system has guardrails. We are dealing with people, not leads in a business pipeline. That means privacy, tone, consent, and spiritual maturity matter.,Failsafes include no pressure tactics, no public sharing of personal information, no one-person dependency, clear escalation rules, follow-up review, and leadership oversight. If someone does not respond, we do not chase them aggressively. If someone is not ready, we respect that. If a group is not a fit, we redirect with care.,The check and balance is that the system should always be reviewable. Leadership should be able to ask: who are we following up with, what stage are they in, what are we learning, and where are people falling off?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HUMAN-CENTERED SYSTEMS:,This is an important leadership point. I do not want this to feel like we are turning ministry into a corporate CRM. The purpose of systems is not to replace relationship. The purpose of systems is to create capacity for relationship.,When there is no structure, people get missed. When volunteers are relying only on memory, names get forgotten. When follow-up is informal, accountability becomes inconsistent. A healthy system protects the relational mission.,Technology should support ministry, not control it. Data should help us see patterns, but people should always be treated as people. The Bridge Team should feel warm, human, and spiritually grounded even while being operationally organized.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WALKTHROUGH:,The deployed frontend gives us a visual home for the system. This is useful because many ministry systems are hard to explain when they only exist in conversation. The platform helps turn the idea into something visible and trainable.,During the live meeting, this is where I would briefly open the site and walk through the diagrams, workflows, source docs, and team concepts. The point is not to say the platform is finished. The point is to show that the Bridge Team is already being documented, structured, and prepared for onboarding.,This also gives leadership a way to review the system and gives future volunteers a place to understand the model without needing me to explain everything from scratch every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NEED FROM LEADERSHIP:,For this to work well, the Bridge Team needs alignment and covering from leadership. We need clarity on what information we are allowed to collect, what tools we should use, what communication standards leadership wants, and how introductions to Connect Group leaders should happen.,We also need leadership to help define the boundaries. What situations should be escalated? What should volunteers not handle alone? What metrics does leadership actually care about? How often should we report progress?,The goal is not to create extra burden for leadership. The goal is to give leadership a clear system they can trust. With the right approval and boundaries, the Bridge Team can operate confidently while staying aligned with the heart and standards of the ministry.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AND METRICS:,Success is not just more names on a spreadsheet. The deeper measure is whether people are becoming connected, known, and rooted. We can measure attendance, follow-up completion, group visits, placement rates, and retention, but the human outcomes matter most.,Success looks like a young adult saying, “I found my people.” It looks like a recurring attendee becoming a Connect Group member. It looks like someone who came quietly for months eventually inviting someone else. It looks like future leaders emerging from people who almost slipped through the cracks.,Metrics help us improve, but the mission is belonging, discipleship, and growth.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CLOSING:,The final message is simple: we are building a bridge so people do not just attend OUTLET; they become part of a family. The room is already powerful, but the bridge determines what happens after people leave the room.,If we do this well, we create a ministry culture where people are seen, followed up with, connected, and developed. We help Connect Groups become more accessible. We help leadership see where the integration gaps are. We help young adults move from curiosity into community and from community into discipleship.,This is designed for connection, built for community, and structured for growth.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100E"/>
          </a:solidFill>
          <a:ln w="12700">
            <a:solidFill>
              <a:srgbClr val="12100E"/>
            </a:solidFill>
            <a:prstDash val="solid"/>
          </a:ln>
        </p:spPr>
        <p:txBody>
          <a:bodyPr/>
          <a:lstStyle/>
          <a:p>
            <a:endParaRPr lang="en-US"/>
          </a:p>
        </p:txBody>
      </p:sp>
      <p:sp>
        <p:nvSpPr>
          <p:cNvPr id="3" name="Shape 1"/>
          <p:cNvSpPr/>
          <p:nvPr/>
        </p:nvSpPr>
        <p:spPr>
          <a:xfrm>
            <a:off x="6400800" y="457200"/>
            <a:ext cx="4937760" cy="4572000"/>
          </a:xfrm>
          <a:prstGeom prst="arc">
            <a:avLst/>
          </a:prstGeom>
          <a:solidFill>
            <a:srgbClr val="12100E">
              <a:alpha val="0"/>
            </a:srgbClr>
          </a:solidFill>
          <a:ln w="38100">
            <a:solidFill>
              <a:srgbClr val="C8A85E">
                <a:alpha val="78000"/>
              </a:srgbClr>
            </a:solidFill>
            <a:prstDash val="solid"/>
          </a:ln>
        </p:spPr>
        <p:txBody>
          <a:bodyPr/>
          <a:lstStyle/>
          <a:p>
            <a:endParaRPr lang="en-US"/>
          </a:p>
        </p:txBody>
      </p:sp>
      <p:sp>
        <p:nvSpPr>
          <p:cNvPr id="4" name="Shape 2"/>
          <p:cNvSpPr/>
          <p:nvPr/>
        </p:nvSpPr>
        <p:spPr>
          <a:xfrm>
            <a:off x="5943600" y="1005840"/>
            <a:ext cx="5212080" cy="4389120"/>
          </a:xfrm>
          <a:prstGeom prst="arc">
            <a:avLst/>
          </a:prstGeom>
          <a:solidFill>
            <a:srgbClr val="12100E">
              <a:alpha val="0"/>
            </a:srgbClr>
          </a:solidFill>
          <a:ln w="25400">
            <a:solidFill>
              <a:srgbClr val="1B7B63">
                <a:alpha val="55000"/>
              </a:srgbClr>
            </a:solidFill>
            <a:prstDash val="solid"/>
          </a:ln>
        </p:spPr>
        <p:txBody>
          <a:bodyPr/>
          <a:lstStyle/>
          <a:p>
            <a:endParaRPr lang="en-US"/>
          </a:p>
        </p:txBody>
      </p:sp>
      <p:sp>
        <p:nvSpPr>
          <p:cNvPr id="5" name="Text 3"/>
          <p:cNvSpPr/>
          <p:nvPr/>
        </p:nvSpPr>
        <p:spPr>
          <a:xfrm>
            <a:off x="685800" y="685800"/>
            <a:ext cx="1280160" cy="201168"/>
          </a:xfrm>
          <a:prstGeom prst="rect">
            <a:avLst/>
          </a:prstGeom>
          <a:noFill/>
          <a:ln/>
        </p:spPr>
        <p:txBody>
          <a:bodyPr wrap="square" lIns="0" tIns="0" rIns="0" bIns="0" rtlCol="0" anchor="ctr"/>
          <a:lstStyle/>
          <a:p>
            <a:pPr marL="0" indent="0">
              <a:buNone/>
            </a:pPr>
            <a:r>
              <a:rPr lang="en-US" sz="900" b="1" dirty="0">
                <a:solidFill>
                  <a:srgbClr val="E4C576"/>
                </a:solidFill>
                <a:latin typeface="Calibri" pitchFamily="34" charset="0"/>
                <a:ea typeface="Calibri" pitchFamily="34" charset="-122"/>
                <a:cs typeface="Calibri" pitchFamily="34" charset="-120"/>
              </a:rPr>
              <a:t>OUTLET</a:t>
            </a:r>
            <a:endParaRPr lang="en-US" sz="900" dirty="0"/>
          </a:p>
        </p:txBody>
      </p:sp>
      <p:sp>
        <p:nvSpPr>
          <p:cNvPr id="6" name="Text 4"/>
          <p:cNvSpPr/>
          <p:nvPr/>
        </p:nvSpPr>
        <p:spPr>
          <a:xfrm>
            <a:off x="685800" y="1005840"/>
            <a:ext cx="5760720" cy="621792"/>
          </a:xfrm>
          <a:prstGeom prst="rect">
            <a:avLst/>
          </a:prstGeom>
          <a:noFill/>
          <a:ln/>
        </p:spPr>
        <p:txBody>
          <a:bodyPr wrap="square" lIns="0" tIns="0" rIns="0" bIns="0" rtlCol="0" anchor="ctr">
            <a:normAutofit/>
          </a:bodyPr>
          <a:lstStyle/>
          <a:p>
            <a:pPr marL="0" indent="0">
              <a:buNone/>
            </a:pPr>
            <a:r>
              <a:rPr lang="en-US" sz="4000" b="1" dirty="0">
                <a:solidFill>
                  <a:srgbClr val="FFFFFF"/>
                </a:solidFill>
                <a:latin typeface="Calibri" pitchFamily="34" charset="0"/>
                <a:ea typeface="Calibri" pitchFamily="34" charset="-122"/>
                <a:cs typeface="Calibri" pitchFamily="34" charset="-120"/>
              </a:rPr>
              <a:t>Bridge Team</a:t>
            </a:r>
            <a:endParaRPr lang="en-US" sz="4000" dirty="0"/>
          </a:p>
        </p:txBody>
      </p:sp>
      <p:sp>
        <p:nvSpPr>
          <p:cNvPr id="7" name="Text 5"/>
          <p:cNvSpPr/>
          <p:nvPr/>
        </p:nvSpPr>
        <p:spPr>
          <a:xfrm>
            <a:off x="713232" y="1828800"/>
            <a:ext cx="5852160" cy="365760"/>
          </a:xfrm>
          <a:prstGeom prst="rect">
            <a:avLst/>
          </a:prstGeom>
          <a:noFill/>
          <a:ln/>
        </p:spPr>
        <p:txBody>
          <a:bodyPr wrap="square" lIns="0" tIns="0" rIns="0" bIns="0" rtlCol="0" anchor="ctr">
            <a:normAutofit/>
          </a:bodyPr>
          <a:lstStyle/>
          <a:p>
            <a:pPr marL="0" indent="0">
              <a:buNone/>
            </a:pPr>
            <a:r>
              <a:rPr lang="en-US" sz="2000" dirty="0">
                <a:solidFill>
                  <a:srgbClr val="E7DFD2"/>
                </a:solidFill>
                <a:latin typeface="Calibri" pitchFamily="34" charset="0"/>
                <a:ea typeface="Calibri" pitchFamily="34" charset="-122"/>
                <a:cs typeface="Calibri" pitchFamily="34" charset="-120"/>
              </a:rPr>
              <a:t>Building the bridge between attendance and community</a:t>
            </a:r>
            <a:endParaRPr lang="en-US" sz="2000" dirty="0"/>
          </a:p>
        </p:txBody>
      </p:sp>
      <p:sp>
        <p:nvSpPr>
          <p:cNvPr id="8" name="Shape 6"/>
          <p:cNvSpPr/>
          <p:nvPr/>
        </p:nvSpPr>
        <p:spPr>
          <a:xfrm>
            <a:off x="731520" y="2487168"/>
            <a:ext cx="4297680" cy="0"/>
          </a:xfrm>
          <a:prstGeom prst="line">
            <a:avLst/>
          </a:prstGeom>
          <a:noFill/>
          <a:ln w="38100">
            <a:solidFill>
              <a:srgbClr val="C8A85E"/>
            </a:solidFill>
            <a:prstDash val="solid"/>
          </a:ln>
        </p:spPr>
        <p:txBody>
          <a:bodyPr/>
          <a:lstStyle/>
          <a:p>
            <a:endParaRPr lang="en-US"/>
          </a:p>
        </p:txBody>
      </p:sp>
      <p:sp>
        <p:nvSpPr>
          <p:cNvPr id="9" name="Text 7"/>
          <p:cNvSpPr/>
          <p:nvPr/>
        </p:nvSpPr>
        <p:spPr>
          <a:xfrm>
            <a:off x="758952" y="2880360"/>
            <a:ext cx="6675120" cy="347472"/>
          </a:xfrm>
          <a:prstGeom prst="rect">
            <a:avLst/>
          </a:prstGeom>
          <a:noFill/>
          <a:ln/>
        </p:spPr>
        <p:txBody>
          <a:bodyPr wrap="square" lIns="0" tIns="0" rIns="0" bIns="0" rtlCol="0" anchor="ctr">
            <a:normAutofit/>
          </a:bodyPr>
          <a:lstStyle/>
          <a:p>
            <a:pPr marL="0" indent="0">
              <a:buNone/>
            </a:pPr>
            <a:r>
              <a:rPr lang="en-US" sz="1420" dirty="0">
                <a:solidFill>
                  <a:srgbClr val="D9D2C7"/>
                </a:solidFill>
                <a:latin typeface="Calibri" pitchFamily="34" charset="0"/>
                <a:ea typeface="Calibri" pitchFamily="34" charset="-122"/>
                <a:cs typeface="Calibri" pitchFamily="34" charset="-120"/>
              </a:rPr>
              <a:t>From Event Attendance → Meaningful Connection → Consistent Discipleship</a:t>
            </a:r>
            <a:endParaRPr lang="en-US" sz="1420" dirty="0"/>
          </a:p>
        </p:txBody>
      </p:sp>
      <p:sp>
        <p:nvSpPr>
          <p:cNvPr id="10" name="Shape 8"/>
          <p:cNvSpPr/>
          <p:nvPr/>
        </p:nvSpPr>
        <p:spPr>
          <a:xfrm>
            <a:off x="749808" y="3749040"/>
            <a:ext cx="3337560" cy="310896"/>
          </a:xfrm>
          <a:prstGeom prst="roundRect">
            <a:avLst>
              <a:gd name="adj" fmla="val 23529"/>
            </a:avLst>
          </a:prstGeom>
          <a:solidFill>
            <a:srgbClr val="C8A85E"/>
          </a:solidFill>
          <a:ln w="12700">
            <a:solidFill>
              <a:srgbClr val="C8A85E">
                <a:alpha val="0"/>
              </a:srgbClr>
            </a:solidFill>
            <a:prstDash val="solid"/>
          </a:ln>
        </p:spPr>
        <p:txBody>
          <a:bodyPr/>
          <a:lstStyle/>
          <a:p>
            <a:endParaRPr lang="en-US"/>
          </a:p>
        </p:txBody>
      </p:sp>
      <p:sp>
        <p:nvSpPr>
          <p:cNvPr id="11" name="Text 9"/>
          <p:cNvSpPr/>
          <p:nvPr/>
        </p:nvSpPr>
        <p:spPr>
          <a:xfrm>
            <a:off x="859536" y="3822192"/>
            <a:ext cx="3118104" cy="146304"/>
          </a:xfrm>
          <a:prstGeom prst="rect">
            <a:avLst/>
          </a:prstGeom>
          <a:noFill/>
          <a:ln/>
        </p:spPr>
        <p:txBody>
          <a:bodyPr wrap="square" lIns="0" tIns="0" rIns="0" bIns="0" rtlCol="0" anchor="ctr"/>
          <a:lstStyle/>
          <a:p>
            <a:pPr marL="0" indent="0" algn="ctr">
              <a:buNone/>
            </a:pPr>
            <a:r>
              <a:rPr lang="en-US" sz="850" b="1" dirty="0">
                <a:solidFill>
                  <a:srgbClr val="12100E"/>
                </a:solidFill>
                <a:latin typeface="Calibri" pitchFamily="34" charset="0"/>
                <a:ea typeface="Calibri" pitchFamily="34" charset="-122"/>
                <a:cs typeface="Calibri" pitchFamily="34" charset="-120"/>
              </a:rPr>
              <a:t>ONBOARDING + LEADERSHIP ALIGNMENT</a:t>
            </a:r>
            <a:endParaRPr lang="en-US" sz="850" dirty="0"/>
          </a:p>
        </p:txBody>
      </p:sp>
      <p:sp>
        <p:nvSpPr>
          <p:cNvPr id="12" name="Text 10"/>
          <p:cNvSpPr/>
          <p:nvPr/>
        </p:nvSpPr>
        <p:spPr>
          <a:xfrm>
            <a:off x="758952" y="4279392"/>
            <a:ext cx="4754880" cy="548640"/>
          </a:xfrm>
          <a:prstGeom prst="rect">
            <a:avLst/>
          </a:prstGeom>
          <a:noFill/>
          <a:ln/>
        </p:spPr>
        <p:txBody>
          <a:bodyPr wrap="square" lIns="254" tIns="254" rIns="254" bIns="254" rtlCol="0" anchor="ctr">
            <a:normAutofit/>
          </a:bodyPr>
          <a:lstStyle/>
          <a:p>
            <a:pPr marL="0" indent="0">
              <a:buNone/>
            </a:pPr>
            <a:r>
              <a:rPr lang="en-US" sz="1150" dirty="0">
                <a:solidFill>
                  <a:srgbClr val="CFC7BB"/>
                </a:solidFill>
                <a:latin typeface="Calibri" pitchFamily="34" charset="0"/>
                <a:ea typeface="Calibri" pitchFamily="34" charset="-122"/>
                <a:cs typeface="Calibri" pitchFamily="34" charset="-120"/>
              </a:rPr>
              <a:t>Prepared for The OUTLET, Bridge Team volunteers, Connect Group leaders, and ministry oversight.</a:t>
            </a:r>
            <a:endParaRPr lang="en-US" sz="1150" dirty="0"/>
          </a:p>
        </p:txBody>
      </p:sp>
      <p:sp>
        <p:nvSpPr>
          <p:cNvPr id="13" name="Text 11"/>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D9D2C7"/>
                </a:solidFill>
                <a:latin typeface="Calibri" pitchFamily="34" charset="0"/>
                <a:ea typeface="Calibri" pitchFamily="34" charset="-122"/>
                <a:cs typeface="Calibri" pitchFamily="34" charset="-120"/>
              </a:rPr>
              <a:t>OUTLET Bridge Team</a:t>
            </a:r>
            <a:endParaRPr lang="en-US" sz="750" dirty="0"/>
          </a:p>
        </p:txBody>
      </p:sp>
      <p:sp>
        <p:nvSpPr>
          <p:cNvPr id="14" name="Text 12"/>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E4C576"/>
                </a:solidFill>
                <a:latin typeface="Calibri" pitchFamily="34" charset="0"/>
                <a:ea typeface="Calibri" pitchFamily="34" charset="-122"/>
                <a:cs typeface="Calibri" pitchFamily="34" charset="-120"/>
              </a:rPr>
              <a:t>01</a:t>
            </a:r>
            <a:endParaRPr lang="en-US" sz="800" dirty="0"/>
          </a:p>
        </p:txBody>
      </p:sp>
      <p:sp>
        <p:nvSpPr>
          <p:cNvPr id="15" name="Shape 13"/>
          <p:cNvSpPr/>
          <p:nvPr/>
        </p:nvSpPr>
        <p:spPr>
          <a:xfrm>
            <a:off x="502920" y="6345936"/>
            <a:ext cx="11109960" cy="0"/>
          </a:xfrm>
          <a:prstGeom prst="line">
            <a:avLst/>
          </a:prstGeom>
          <a:noFill/>
          <a:ln w="7620">
            <a:solidFill>
              <a:srgbClr val="3B342D"/>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MEETING PURPOSE</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What this meeting is designed to do</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02</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621792" y="1490472"/>
            <a:ext cx="2377440" cy="201168"/>
          </a:xfrm>
          <a:prstGeom prst="rect">
            <a:avLst/>
          </a:prstGeom>
          <a:noFill/>
          <a:ln/>
        </p:spPr>
        <p:txBody>
          <a:bodyPr wrap="square" lIns="0" tIns="0" rIns="0" bIns="0" rtlCol="0" anchor="ctr"/>
          <a:lstStyle/>
          <a:p>
            <a:pPr marL="0" indent="0">
              <a:buNone/>
            </a:pPr>
            <a:r>
              <a:rPr lang="en-US" sz="850" b="1" dirty="0">
                <a:solidFill>
                  <a:srgbClr val="9C938B"/>
                </a:solidFill>
                <a:latin typeface="Calibri" pitchFamily="34" charset="0"/>
                <a:ea typeface="Calibri" pitchFamily="34" charset="-122"/>
                <a:cs typeface="Calibri" pitchFamily="34" charset="-120"/>
              </a:rPr>
              <a:t>TWO AUDIENCES. ONE SHARED OPERATING LANGUAGE.</a:t>
            </a:r>
            <a:endParaRPr lang="en-US" sz="850" dirty="0"/>
          </a:p>
        </p:txBody>
      </p:sp>
      <p:sp>
        <p:nvSpPr>
          <p:cNvPr id="9" name="Shape 7"/>
          <p:cNvSpPr/>
          <p:nvPr/>
        </p:nvSpPr>
        <p:spPr>
          <a:xfrm>
            <a:off x="658368" y="1828800"/>
            <a:ext cx="5074920" cy="2606040"/>
          </a:xfrm>
          <a:prstGeom prst="roundRect">
            <a:avLst>
              <a:gd name="adj" fmla="val 2807"/>
            </a:avLst>
          </a:prstGeom>
          <a:solidFill>
            <a:srgbClr val="FFFFFF"/>
          </a:solidFill>
          <a:ln w="11430">
            <a:solidFill>
              <a:srgbClr val="E6DFD2"/>
            </a:solidFill>
            <a:prstDash val="solid"/>
          </a:ln>
        </p:spPr>
        <p:txBody>
          <a:bodyPr/>
          <a:lstStyle/>
          <a:p>
            <a:endParaRPr lang="en-US"/>
          </a:p>
        </p:txBody>
      </p:sp>
      <p:sp>
        <p:nvSpPr>
          <p:cNvPr id="10" name="Shape 8"/>
          <p:cNvSpPr/>
          <p:nvPr/>
        </p:nvSpPr>
        <p:spPr>
          <a:xfrm>
            <a:off x="658368" y="1828800"/>
            <a:ext cx="73152" cy="2606040"/>
          </a:xfrm>
          <a:prstGeom prst="rect">
            <a:avLst/>
          </a:prstGeom>
          <a:solidFill>
            <a:srgbClr val="1B7B63"/>
          </a:solidFill>
          <a:ln w="12700">
            <a:solidFill>
              <a:srgbClr val="1B7B63"/>
            </a:solidFill>
            <a:prstDash val="solid"/>
          </a:ln>
        </p:spPr>
        <p:txBody>
          <a:bodyPr/>
          <a:lstStyle/>
          <a:p>
            <a:endParaRPr lang="en-US"/>
          </a:p>
        </p:txBody>
      </p:sp>
      <p:sp>
        <p:nvSpPr>
          <p:cNvPr id="11" name="Text 9"/>
          <p:cNvSpPr/>
          <p:nvPr/>
        </p:nvSpPr>
        <p:spPr>
          <a:xfrm>
            <a:off x="886968" y="1984248"/>
            <a:ext cx="46908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For Bridge Team volunteers</a:t>
            </a:r>
            <a:endParaRPr lang="en-US" sz="1300" dirty="0"/>
          </a:p>
        </p:txBody>
      </p:sp>
      <p:sp>
        <p:nvSpPr>
          <p:cNvPr id="12" name="Text 10"/>
          <p:cNvSpPr/>
          <p:nvPr/>
        </p:nvSpPr>
        <p:spPr>
          <a:xfrm>
            <a:off x="914400" y="2359152"/>
            <a:ext cx="4636008" cy="194767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Understand the mission and why the team exists</a:t>
            </a:r>
            <a:endParaRPr lang="en-US" sz="1020" dirty="0"/>
          </a:p>
          <a:p>
            <a:r>
              <a:rPr lang="en-US" sz="1020" dirty="0">
                <a:solidFill>
                  <a:srgbClr val="6F6861"/>
                </a:solidFill>
                <a:latin typeface="Calibri" pitchFamily="34" charset="0"/>
                <a:ea typeface="Calibri" pitchFamily="34" charset="-122"/>
                <a:cs typeface="Calibri" pitchFamily="34" charset="-120"/>
              </a:rPr>
              <a:t>Learn the pipeline, responsibilities, and communication rhythm</a:t>
            </a:r>
            <a:endParaRPr lang="en-US" sz="1020" dirty="0"/>
          </a:p>
          <a:p>
            <a:r>
              <a:rPr lang="en-US" sz="1020" dirty="0">
                <a:solidFill>
                  <a:srgbClr val="6F6861"/>
                </a:solidFill>
                <a:latin typeface="Calibri" pitchFamily="34" charset="0"/>
                <a:ea typeface="Calibri" pitchFamily="34" charset="-122"/>
                <a:cs typeface="Calibri" pitchFamily="34" charset="-120"/>
              </a:rPr>
              <a:t>Walk away knowing how to serve with clarity and consistency</a:t>
            </a:r>
            <a:endParaRPr lang="en-US" sz="1020" dirty="0"/>
          </a:p>
        </p:txBody>
      </p:sp>
      <p:sp>
        <p:nvSpPr>
          <p:cNvPr id="13" name="Shape 11"/>
          <p:cNvSpPr/>
          <p:nvPr/>
        </p:nvSpPr>
        <p:spPr>
          <a:xfrm>
            <a:off x="6400800" y="1828800"/>
            <a:ext cx="5074920" cy="2606040"/>
          </a:xfrm>
          <a:prstGeom prst="roundRect">
            <a:avLst>
              <a:gd name="adj" fmla="val 2807"/>
            </a:avLst>
          </a:prstGeom>
          <a:solidFill>
            <a:srgbClr val="FFFFFF"/>
          </a:solidFill>
          <a:ln w="11430">
            <a:solidFill>
              <a:srgbClr val="E6DFD2"/>
            </a:solidFill>
            <a:prstDash val="solid"/>
          </a:ln>
        </p:spPr>
        <p:txBody>
          <a:bodyPr/>
          <a:lstStyle/>
          <a:p>
            <a:endParaRPr lang="en-US"/>
          </a:p>
        </p:txBody>
      </p:sp>
      <p:sp>
        <p:nvSpPr>
          <p:cNvPr id="14" name="Shape 12"/>
          <p:cNvSpPr/>
          <p:nvPr/>
        </p:nvSpPr>
        <p:spPr>
          <a:xfrm>
            <a:off x="6400800" y="1828800"/>
            <a:ext cx="73152" cy="2606040"/>
          </a:xfrm>
          <a:prstGeom prst="rect">
            <a:avLst/>
          </a:prstGeom>
          <a:solidFill>
            <a:srgbClr val="C8A85E"/>
          </a:solidFill>
          <a:ln w="12700">
            <a:solidFill>
              <a:srgbClr val="C8A85E"/>
            </a:solidFill>
            <a:prstDash val="solid"/>
          </a:ln>
        </p:spPr>
        <p:txBody>
          <a:bodyPr/>
          <a:lstStyle/>
          <a:p>
            <a:endParaRPr lang="en-US"/>
          </a:p>
        </p:txBody>
      </p:sp>
      <p:sp>
        <p:nvSpPr>
          <p:cNvPr id="15" name="Text 13"/>
          <p:cNvSpPr/>
          <p:nvPr/>
        </p:nvSpPr>
        <p:spPr>
          <a:xfrm>
            <a:off x="6629400" y="1984248"/>
            <a:ext cx="46908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For ministry leadership</a:t>
            </a:r>
            <a:endParaRPr lang="en-US" sz="1300" dirty="0"/>
          </a:p>
        </p:txBody>
      </p:sp>
      <p:sp>
        <p:nvSpPr>
          <p:cNvPr id="16" name="Text 14"/>
          <p:cNvSpPr/>
          <p:nvPr/>
        </p:nvSpPr>
        <p:spPr>
          <a:xfrm>
            <a:off x="6656832" y="2359152"/>
            <a:ext cx="4636008" cy="194767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See the Bridge Team as retention and discipleship infrastructure</a:t>
            </a:r>
            <a:endParaRPr lang="en-US" sz="1020" dirty="0"/>
          </a:p>
          <a:p>
            <a:r>
              <a:rPr lang="en-US" sz="1020" dirty="0">
                <a:solidFill>
                  <a:srgbClr val="6F6861"/>
                </a:solidFill>
                <a:latin typeface="Calibri" pitchFamily="34" charset="0"/>
                <a:ea typeface="Calibri" pitchFamily="34" charset="-122"/>
                <a:cs typeface="Calibri" pitchFamily="34" charset="-120"/>
              </a:rPr>
              <a:t>Review the safeguards, oversight points, and reporting needs</a:t>
            </a:r>
            <a:endParaRPr lang="en-US" sz="1020" dirty="0"/>
          </a:p>
          <a:p>
            <a:r>
              <a:rPr lang="en-US" sz="1020" dirty="0">
                <a:solidFill>
                  <a:srgbClr val="6F6861"/>
                </a:solidFill>
                <a:latin typeface="Calibri" pitchFamily="34" charset="0"/>
                <a:ea typeface="Calibri" pitchFamily="34" charset="-122"/>
                <a:cs typeface="Calibri" pitchFamily="34" charset="-120"/>
              </a:rPr>
              <a:t>Align around what approval, boundaries, and support are needed</a:t>
            </a:r>
            <a:endParaRPr lang="en-US" sz="1020" dirty="0"/>
          </a:p>
        </p:txBody>
      </p:sp>
      <p:sp>
        <p:nvSpPr>
          <p:cNvPr id="17" name="Text 15"/>
          <p:cNvSpPr/>
          <p:nvPr/>
        </p:nvSpPr>
        <p:spPr>
          <a:xfrm>
            <a:off x="1051560" y="5074920"/>
            <a:ext cx="10149840" cy="411480"/>
          </a:xfrm>
          <a:prstGeom prst="rect">
            <a:avLst/>
          </a:prstGeom>
          <a:noFill/>
          <a:ln/>
        </p:spPr>
        <p:txBody>
          <a:bodyPr wrap="square" lIns="0" tIns="0" rIns="0" bIns="0" rtlCol="0" anchor="ctr">
            <a:normAutofit/>
          </a:bodyPr>
          <a:lstStyle/>
          <a:p>
            <a:pPr marL="0" indent="0" algn="ctr">
              <a:buNone/>
            </a:pPr>
            <a:r>
              <a:rPr lang="en-US" sz="1800" b="1" dirty="0">
                <a:solidFill>
                  <a:srgbClr val="1A1814"/>
                </a:solidFill>
                <a:latin typeface="Calibri" pitchFamily="34" charset="0"/>
                <a:ea typeface="Calibri" pitchFamily="34" charset="-122"/>
                <a:cs typeface="Calibri" pitchFamily="34" charset="-120"/>
              </a:rPr>
              <a:t>Outcome: everyone should be able to explain how a young adult moves from OUTLET attendance into authentic community.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WHY THIS TEAM EXISTS</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Attendance is not the same as connection</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03</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685800" y="1508760"/>
            <a:ext cx="10607040" cy="502920"/>
          </a:xfrm>
          <a:prstGeom prst="rect">
            <a:avLst/>
          </a:prstGeom>
          <a:noFill/>
          <a:ln/>
        </p:spPr>
        <p:txBody>
          <a:bodyPr wrap="square" lIns="0" tIns="0" rIns="0" bIns="0" rtlCol="0" anchor="ctr">
            <a:normAutofit/>
          </a:bodyPr>
          <a:lstStyle/>
          <a:p>
            <a:pPr marL="0" indent="0" algn="ctr">
              <a:buNone/>
            </a:pPr>
            <a:r>
              <a:rPr lang="en-US" sz="1900" b="1" dirty="0">
                <a:solidFill>
                  <a:srgbClr val="1A1814"/>
                </a:solidFill>
                <a:latin typeface="Calibri" pitchFamily="34" charset="0"/>
                <a:ea typeface="Calibri" pitchFamily="34" charset="-122"/>
                <a:cs typeface="Calibri" pitchFamily="34" charset="-120"/>
              </a:rPr>
              <a:t>A person can attend OUTLET repeatedly and still leave without becoming known, followed up with, or rooted in community.</a:t>
            </a:r>
            <a:endParaRPr lang="en-US" sz="1900" dirty="0"/>
          </a:p>
        </p:txBody>
      </p:sp>
      <p:sp>
        <p:nvSpPr>
          <p:cNvPr id="9" name="Shape 7"/>
          <p:cNvSpPr/>
          <p:nvPr/>
        </p:nvSpPr>
        <p:spPr>
          <a:xfrm>
            <a:off x="777240" y="2606040"/>
            <a:ext cx="2331720" cy="2331720"/>
          </a:xfrm>
          <a:prstGeom prst="roundRect">
            <a:avLst>
              <a:gd name="adj" fmla="val 3137"/>
            </a:avLst>
          </a:prstGeom>
          <a:solidFill>
            <a:srgbClr val="FFFFFF"/>
          </a:solidFill>
          <a:ln w="11430">
            <a:solidFill>
              <a:srgbClr val="E6DFD2"/>
            </a:solidFill>
            <a:prstDash val="solid"/>
          </a:ln>
        </p:spPr>
        <p:txBody>
          <a:bodyPr/>
          <a:lstStyle/>
          <a:p>
            <a:endParaRPr lang="en-US"/>
          </a:p>
        </p:txBody>
      </p:sp>
      <p:sp>
        <p:nvSpPr>
          <p:cNvPr id="10" name="Shape 8"/>
          <p:cNvSpPr/>
          <p:nvPr/>
        </p:nvSpPr>
        <p:spPr>
          <a:xfrm>
            <a:off x="777240" y="2606040"/>
            <a:ext cx="73152" cy="2331720"/>
          </a:xfrm>
          <a:prstGeom prst="rect">
            <a:avLst/>
          </a:prstGeom>
          <a:solidFill>
            <a:srgbClr val="1B7B63"/>
          </a:solidFill>
          <a:ln w="12700">
            <a:solidFill>
              <a:srgbClr val="1B7B63"/>
            </a:solidFill>
            <a:prstDash val="solid"/>
          </a:ln>
        </p:spPr>
        <p:txBody>
          <a:bodyPr/>
          <a:lstStyle/>
          <a:p>
            <a:endParaRPr lang="en-US"/>
          </a:p>
        </p:txBody>
      </p:sp>
      <p:sp>
        <p:nvSpPr>
          <p:cNvPr id="11" name="Text 9"/>
          <p:cNvSpPr/>
          <p:nvPr/>
        </p:nvSpPr>
        <p:spPr>
          <a:xfrm>
            <a:off x="1005840" y="2761488"/>
            <a:ext cx="19476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Event energy is high</a:t>
            </a:r>
            <a:endParaRPr lang="en-US" sz="1300" dirty="0"/>
          </a:p>
        </p:txBody>
      </p:sp>
      <p:sp>
        <p:nvSpPr>
          <p:cNvPr id="12" name="Text 10"/>
          <p:cNvSpPr/>
          <p:nvPr/>
        </p:nvSpPr>
        <p:spPr>
          <a:xfrm>
            <a:off x="1005840" y="3136392"/>
            <a:ext cx="1920240" cy="16733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People enjoy the environment, worship, and room.</a:t>
            </a:r>
            <a:endParaRPr lang="en-US" sz="1050" dirty="0"/>
          </a:p>
        </p:txBody>
      </p:sp>
      <p:sp>
        <p:nvSpPr>
          <p:cNvPr id="13" name="Shape 11"/>
          <p:cNvSpPr/>
          <p:nvPr/>
        </p:nvSpPr>
        <p:spPr>
          <a:xfrm>
            <a:off x="3593592" y="2606040"/>
            <a:ext cx="2331720" cy="2331720"/>
          </a:xfrm>
          <a:prstGeom prst="roundRect">
            <a:avLst>
              <a:gd name="adj" fmla="val 3137"/>
            </a:avLst>
          </a:prstGeom>
          <a:solidFill>
            <a:srgbClr val="FFFFFF"/>
          </a:solidFill>
          <a:ln w="11430">
            <a:solidFill>
              <a:srgbClr val="E6DFD2"/>
            </a:solidFill>
            <a:prstDash val="solid"/>
          </a:ln>
        </p:spPr>
        <p:txBody>
          <a:bodyPr/>
          <a:lstStyle/>
          <a:p>
            <a:endParaRPr lang="en-US"/>
          </a:p>
        </p:txBody>
      </p:sp>
      <p:sp>
        <p:nvSpPr>
          <p:cNvPr id="14" name="Shape 12"/>
          <p:cNvSpPr/>
          <p:nvPr/>
        </p:nvSpPr>
        <p:spPr>
          <a:xfrm>
            <a:off x="3593592" y="2606040"/>
            <a:ext cx="73152" cy="2331720"/>
          </a:xfrm>
          <a:prstGeom prst="rect">
            <a:avLst/>
          </a:prstGeom>
          <a:solidFill>
            <a:srgbClr val="C8A85E"/>
          </a:solidFill>
          <a:ln w="12700">
            <a:solidFill>
              <a:srgbClr val="C8A85E"/>
            </a:solidFill>
            <a:prstDash val="solid"/>
          </a:ln>
        </p:spPr>
        <p:txBody>
          <a:bodyPr/>
          <a:lstStyle/>
          <a:p>
            <a:endParaRPr lang="en-US"/>
          </a:p>
        </p:txBody>
      </p:sp>
      <p:sp>
        <p:nvSpPr>
          <p:cNvPr id="15" name="Text 13"/>
          <p:cNvSpPr/>
          <p:nvPr/>
        </p:nvSpPr>
        <p:spPr>
          <a:xfrm>
            <a:off x="3822192" y="2761488"/>
            <a:ext cx="19476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The next step can be unclear</a:t>
            </a:r>
            <a:endParaRPr lang="en-US" sz="1300" dirty="0"/>
          </a:p>
        </p:txBody>
      </p:sp>
      <p:sp>
        <p:nvSpPr>
          <p:cNvPr id="16" name="Text 14"/>
          <p:cNvSpPr/>
          <p:nvPr/>
        </p:nvSpPr>
        <p:spPr>
          <a:xfrm>
            <a:off x="3822192" y="3136392"/>
            <a:ext cx="1920240" cy="16733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Connect Groups exist, but the pathway can feel intimidating.</a:t>
            </a:r>
            <a:endParaRPr lang="en-US" sz="1050" dirty="0"/>
          </a:p>
        </p:txBody>
      </p:sp>
      <p:sp>
        <p:nvSpPr>
          <p:cNvPr id="17" name="Shape 15"/>
          <p:cNvSpPr/>
          <p:nvPr/>
        </p:nvSpPr>
        <p:spPr>
          <a:xfrm>
            <a:off x="6409944" y="2606040"/>
            <a:ext cx="2331720" cy="2331720"/>
          </a:xfrm>
          <a:prstGeom prst="roundRect">
            <a:avLst>
              <a:gd name="adj" fmla="val 3137"/>
            </a:avLst>
          </a:prstGeom>
          <a:solidFill>
            <a:srgbClr val="FFFFFF"/>
          </a:solidFill>
          <a:ln w="11430">
            <a:solidFill>
              <a:srgbClr val="E6DFD2"/>
            </a:solidFill>
            <a:prstDash val="solid"/>
          </a:ln>
        </p:spPr>
        <p:txBody>
          <a:bodyPr/>
          <a:lstStyle/>
          <a:p>
            <a:endParaRPr lang="en-US"/>
          </a:p>
        </p:txBody>
      </p:sp>
      <p:sp>
        <p:nvSpPr>
          <p:cNvPr id="18" name="Shape 16"/>
          <p:cNvSpPr/>
          <p:nvPr/>
        </p:nvSpPr>
        <p:spPr>
          <a:xfrm>
            <a:off x="6409944" y="2606040"/>
            <a:ext cx="73152" cy="2331720"/>
          </a:xfrm>
          <a:prstGeom prst="rect">
            <a:avLst/>
          </a:prstGeom>
          <a:solidFill>
            <a:srgbClr val="1B7B63"/>
          </a:solidFill>
          <a:ln w="12700">
            <a:solidFill>
              <a:srgbClr val="1B7B63"/>
            </a:solidFill>
            <a:prstDash val="solid"/>
          </a:ln>
        </p:spPr>
        <p:txBody>
          <a:bodyPr/>
          <a:lstStyle/>
          <a:p>
            <a:endParaRPr lang="en-US"/>
          </a:p>
        </p:txBody>
      </p:sp>
      <p:sp>
        <p:nvSpPr>
          <p:cNvPr id="19" name="Text 17"/>
          <p:cNvSpPr/>
          <p:nvPr/>
        </p:nvSpPr>
        <p:spPr>
          <a:xfrm>
            <a:off x="6638544" y="2761488"/>
            <a:ext cx="19476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Follow-up is inconsistent</a:t>
            </a:r>
            <a:endParaRPr lang="en-US" sz="1300" dirty="0"/>
          </a:p>
        </p:txBody>
      </p:sp>
      <p:sp>
        <p:nvSpPr>
          <p:cNvPr id="20" name="Text 18"/>
          <p:cNvSpPr/>
          <p:nvPr/>
        </p:nvSpPr>
        <p:spPr>
          <a:xfrm>
            <a:off x="6638544" y="3136392"/>
            <a:ext cx="1920240" cy="16733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Without a system, people can slip through cracks unintentionally.</a:t>
            </a:r>
            <a:endParaRPr lang="en-US" sz="1050" dirty="0"/>
          </a:p>
        </p:txBody>
      </p:sp>
      <p:sp>
        <p:nvSpPr>
          <p:cNvPr id="21" name="Shape 19"/>
          <p:cNvSpPr/>
          <p:nvPr/>
        </p:nvSpPr>
        <p:spPr>
          <a:xfrm>
            <a:off x="9226296" y="2606040"/>
            <a:ext cx="2331720" cy="2331720"/>
          </a:xfrm>
          <a:prstGeom prst="roundRect">
            <a:avLst>
              <a:gd name="adj" fmla="val 3137"/>
            </a:avLst>
          </a:prstGeom>
          <a:solidFill>
            <a:srgbClr val="FFFFFF"/>
          </a:solidFill>
          <a:ln w="11430">
            <a:solidFill>
              <a:srgbClr val="E6DFD2"/>
            </a:solidFill>
            <a:prstDash val="solid"/>
          </a:ln>
        </p:spPr>
        <p:txBody>
          <a:bodyPr/>
          <a:lstStyle/>
          <a:p>
            <a:endParaRPr lang="en-US"/>
          </a:p>
        </p:txBody>
      </p:sp>
      <p:sp>
        <p:nvSpPr>
          <p:cNvPr id="22" name="Shape 20"/>
          <p:cNvSpPr/>
          <p:nvPr/>
        </p:nvSpPr>
        <p:spPr>
          <a:xfrm>
            <a:off x="9226296" y="2606040"/>
            <a:ext cx="73152" cy="2331720"/>
          </a:xfrm>
          <a:prstGeom prst="rect">
            <a:avLst/>
          </a:prstGeom>
          <a:solidFill>
            <a:srgbClr val="C8A85E"/>
          </a:solidFill>
          <a:ln w="12700">
            <a:solidFill>
              <a:srgbClr val="C8A85E"/>
            </a:solidFill>
            <a:prstDash val="solid"/>
          </a:ln>
        </p:spPr>
        <p:txBody>
          <a:bodyPr/>
          <a:lstStyle/>
          <a:p>
            <a:endParaRPr lang="en-US"/>
          </a:p>
        </p:txBody>
      </p:sp>
      <p:sp>
        <p:nvSpPr>
          <p:cNvPr id="23" name="Text 21"/>
          <p:cNvSpPr/>
          <p:nvPr/>
        </p:nvSpPr>
        <p:spPr>
          <a:xfrm>
            <a:off x="9454896" y="2761488"/>
            <a:ext cx="19476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Belonging takes guidance</a:t>
            </a:r>
            <a:endParaRPr lang="en-US" sz="1300" dirty="0"/>
          </a:p>
        </p:txBody>
      </p:sp>
      <p:sp>
        <p:nvSpPr>
          <p:cNvPr id="24" name="Text 22"/>
          <p:cNvSpPr/>
          <p:nvPr/>
        </p:nvSpPr>
        <p:spPr>
          <a:xfrm>
            <a:off x="9454896" y="3136392"/>
            <a:ext cx="1920240" cy="16733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Young adults often need a warm bridge, not just an announcement.</a:t>
            </a:r>
            <a:endParaRPr lang="en-US" sz="1050" dirty="0"/>
          </a:p>
        </p:txBody>
      </p:sp>
      <p:sp>
        <p:nvSpPr>
          <p:cNvPr id="25" name="Shape 23"/>
          <p:cNvSpPr/>
          <p:nvPr/>
        </p:nvSpPr>
        <p:spPr>
          <a:xfrm>
            <a:off x="5257800" y="5349240"/>
            <a:ext cx="1673352" cy="384048"/>
          </a:xfrm>
          <a:prstGeom prst="chevron">
            <a:avLst/>
          </a:prstGeom>
          <a:solidFill>
            <a:srgbClr val="C8A85E"/>
          </a:solidFill>
          <a:ln w="12700">
            <a:solidFill>
              <a:srgbClr val="C8A85E"/>
            </a:solidFill>
            <a:prstDash val="solid"/>
          </a:ln>
        </p:spPr>
        <p:txBody>
          <a:bodyPr/>
          <a:lstStyle/>
          <a:p>
            <a:endParaRPr lang="en-US"/>
          </a:p>
        </p:txBody>
      </p:sp>
      <p:sp>
        <p:nvSpPr>
          <p:cNvPr id="26" name="Text 24"/>
          <p:cNvSpPr/>
          <p:nvPr/>
        </p:nvSpPr>
        <p:spPr>
          <a:xfrm>
            <a:off x="1307592" y="5806440"/>
            <a:ext cx="9601200" cy="320040"/>
          </a:xfrm>
          <a:prstGeom prst="rect">
            <a:avLst/>
          </a:prstGeom>
          <a:noFill/>
          <a:ln/>
        </p:spPr>
        <p:txBody>
          <a:bodyPr wrap="square" lIns="0" tIns="0" rIns="0" bIns="0" rtlCol="0" anchor="ctr"/>
          <a:lstStyle/>
          <a:p>
            <a:pPr marL="0" indent="0" algn="ctr">
              <a:buNone/>
            </a:pPr>
            <a:r>
              <a:rPr lang="en-US" sz="1600" b="1" dirty="0">
                <a:solidFill>
                  <a:srgbClr val="1A1814"/>
                </a:solidFill>
                <a:latin typeface="Calibri" pitchFamily="34" charset="0"/>
                <a:ea typeface="Calibri" pitchFamily="34" charset="-122"/>
                <a:cs typeface="Calibri" pitchFamily="34" charset="-120"/>
              </a:rPr>
              <a:t>The Bridge Team owns the transition from “I showed up” to “I found my people.”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THE CURRENT GAP</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The community funnel has a middle gap</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04</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594360" y="1984248"/>
            <a:ext cx="1399032" cy="1097280"/>
          </a:xfrm>
          <a:prstGeom prst="roundRect">
            <a:avLst>
              <a:gd name="adj" fmla="val 6667"/>
            </a:avLst>
          </a:prstGeom>
          <a:solidFill>
            <a:srgbClr val="FFFFFF"/>
          </a:solidFill>
          <a:ln w="12700">
            <a:solidFill>
              <a:srgbClr val="E1D9CE"/>
            </a:solidFill>
            <a:prstDash val="solid"/>
          </a:ln>
        </p:spPr>
        <p:txBody>
          <a:bodyPr/>
          <a:lstStyle/>
          <a:p>
            <a:endParaRPr lang="en-US"/>
          </a:p>
        </p:txBody>
      </p:sp>
      <p:sp>
        <p:nvSpPr>
          <p:cNvPr id="9" name="Text 7"/>
          <p:cNvSpPr/>
          <p:nvPr/>
        </p:nvSpPr>
        <p:spPr>
          <a:xfrm>
            <a:off x="6858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01</a:t>
            </a:r>
            <a:endParaRPr lang="en-US" sz="900" dirty="0"/>
          </a:p>
        </p:txBody>
      </p:sp>
      <p:sp>
        <p:nvSpPr>
          <p:cNvPr id="10" name="Text 8"/>
          <p:cNvSpPr/>
          <p:nvPr/>
        </p:nvSpPr>
        <p:spPr>
          <a:xfrm>
            <a:off x="7040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Event</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Attendee</a:t>
            </a:r>
            <a:endParaRPr lang="en-US" sz="1200" dirty="0"/>
          </a:p>
        </p:txBody>
      </p:sp>
      <p:sp>
        <p:nvSpPr>
          <p:cNvPr id="11" name="Shape 9"/>
          <p:cNvSpPr/>
          <p:nvPr/>
        </p:nvSpPr>
        <p:spPr>
          <a:xfrm>
            <a:off x="20208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12" name="Shape 10"/>
          <p:cNvSpPr/>
          <p:nvPr/>
        </p:nvSpPr>
        <p:spPr>
          <a:xfrm>
            <a:off x="2194560" y="1984248"/>
            <a:ext cx="1399032" cy="1097280"/>
          </a:xfrm>
          <a:prstGeom prst="roundRect">
            <a:avLst>
              <a:gd name="adj" fmla="val 6667"/>
            </a:avLst>
          </a:prstGeom>
          <a:solidFill>
            <a:srgbClr val="FFFFFF"/>
          </a:solidFill>
          <a:ln w="12700">
            <a:solidFill>
              <a:srgbClr val="E1D9CE"/>
            </a:solidFill>
            <a:prstDash val="solid"/>
          </a:ln>
        </p:spPr>
        <p:txBody>
          <a:bodyPr/>
          <a:lstStyle/>
          <a:p>
            <a:endParaRPr lang="en-US"/>
          </a:p>
        </p:txBody>
      </p:sp>
      <p:sp>
        <p:nvSpPr>
          <p:cNvPr id="13" name="Text 11"/>
          <p:cNvSpPr/>
          <p:nvPr/>
        </p:nvSpPr>
        <p:spPr>
          <a:xfrm>
            <a:off x="22860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23042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Returning</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Attendee</a:t>
            </a:r>
            <a:endParaRPr lang="en-US" sz="1200" dirty="0"/>
          </a:p>
        </p:txBody>
      </p:sp>
      <p:sp>
        <p:nvSpPr>
          <p:cNvPr id="15" name="Shape 13"/>
          <p:cNvSpPr/>
          <p:nvPr/>
        </p:nvSpPr>
        <p:spPr>
          <a:xfrm>
            <a:off x="36210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16" name="Shape 14"/>
          <p:cNvSpPr/>
          <p:nvPr/>
        </p:nvSpPr>
        <p:spPr>
          <a:xfrm>
            <a:off x="3794760" y="1984248"/>
            <a:ext cx="1399032" cy="1097280"/>
          </a:xfrm>
          <a:prstGeom prst="roundRect">
            <a:avLst>
              <a:gd name="adj" fmla="val 6667"/>
            </a:avLst>
          </a:prstGeom>
          <a:solidFill>
            <a:srgbClr val="FFF6DF"/>
          </a:solidFill>
          <a:ln w="12700">
            <a:solidFill>
              <a:srgbClr val="C8A85E"/>
            </a:solidFill>
            <a:prstDash val="solid"/>
          </a:ln>
        </p:spPr>
        <p:txBody>
          <a:bodyPr/>
          <a:lstStyle/>
          <a:p>
            <a:endParaRPr lang="en-US"/>
          </a:p>
        </p:txBody>
      </p:sp>
      <p:sp>
        <p:nvSpPr>
          <p:cNvPr id="17" name="Text 15"/>
          <p:cNvSpPr/>
          <p:nvPr/>
        </p:nvSpPr>
        <p:spPr>
          <a:xfrm>
            <a:off x="38862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03</a:t>
            </a:r>
            <a:endParaRPr lang="en-US" sz="900" dirty="0"/>
          </a:p>
        </p:txBody>
      </p:sp>
      <p:sp>
        <p:nvSpPr>
          <p:cNvPr id="18" name="Text 16"/>
          <p:cNvSpPr/>
          <p:nvPr/>
        </p:nvSpPr>
        <p:spPr>
          <a:xfrm>
            <a:off x="39044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Familiar</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Face</a:t>
            </a:r>
            <a:endParaRPr lang="en-US" sz="1200" dirty="0"/>
          </a:p>
        </p:txBody>
      </p:sp>
      <p:sp>
        <p:nvSpPr>
          <p:cNvPr id="19" name="Shape 17"/>
          <p:cNvSpPr/>
          <p:nvPr/>
        </p:nvSpPr>
        <p:spPr>
          <a:xfrm>
            <a:off x="52212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20" name="Shape 18"/>
          <p:cNvSpPr/>
          <p:nvPr/>
        </p:nvSpPr>
        <p:spPr>
          <a:xfrm>
            <a:off x="5394960" y="1984248"/>
            <a:ext cx="1399032" cy="1097280"/>
          </a:xfrm>
          <a:prstGeom prst="roundRect">
            <a:avLst>
              <a:gd name="adj" fmla="val 6667"/>
            </a:avLst>
          </a:prstGeom>
          <a:solidFill>
            <a:srgbClr val="FFF6DF"/>
          </a:solidFill>
          <a:ln w="12700">
            <a:solidFill>
              <a:srgbClr val="C8A85E"/>
            </a:solidFill>
            <a:prstDash val="solid"/>
          </a:ln>
        </p:spPr>
        <p:txBody>
          <a:bodyPr/>
          <a:lstStyle/>
          <a:p>
            <a:endParaRPr lang="en-US"/>
          </a:p>
        </p:txBody>
      </p:sp>
      <p:sp>
        <p:nvSpPr>
          <p:cNvPr id="21" name="Text 19"/>
          <p:cNvSpPr/>
          <p:nvPr/>
        </p:nvSpPr>
        <p:spPr>
          <a:xfrm>
            <a:off x="54864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55046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Interested</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Person</a:t>
            </a:r>
            <a:endParaRPr lang="en-US" sz="1200" dirty="0"/>
          </a:p>
        </p:txBody>
      </p:sp>
      <p:sp>
        <p:nvSpPr>
          <p:cNvPr id="23" name="Shape 21"/>
          <p:cNvSpPr/>
          <p:nvPr/>
        </p:nvSpPr>
        <p:spPr>
          <a:xfrm>
            <a:off x="68214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24" name="Shape 22"/>
          <p:cNvSpPr/>
          <p:nvPr/>
        </p:nvSpPr>
        <p:spPr>
          <a:xfrm>
            <a:off x="6995160" y="1984248"/>
            <a:ext cx="1399032" cy="1097280"/>
          </a:xfrm>
          <a:prstGeom prst="roundRect">
            <a:avLst>
              <a:gd name="adj" fmla="val 6667"/>
            </a:avLst>
          </a:prstGeom>
          <a:solidFill>
            <a:srgbClr val="FFF6DF"/>
          </a:solidFill>
          <a:ln w="12700">
            <a:solidFill>
              <a:srgbClr val="C8A85E"/>
            </a:solidFill>
            <a:prstDash val="solid"/>
          </a:ln>
        </p:spPr>
        <p:txBody>
          <a:bodyPr/>
          <a:lstStyle/>
          <a:p>
            <a:endParaRPr lang="en-US"/>
          </a:p>
        </p:txBody>
      </p:sp>
      <p:sp>
        <p:nvSpPr>
          <p:cNvPr id="25" name="Text 23"/>
          <p:cNvSpPr/>
          <p:nvPr/>
        </p:nvSpPr>
        <p:spPr>
          <a:xfrm>
            <a:off x="70866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05</a:t>
            </a:r>
            <a:endParaRPr lang="en-US" sz="900" dirty="0"/>
          </a:p>
        </p:txBody>
      </p:sp>
      <p:sp>
        <p:nvSpPr>
          <p:cNvPr id="26" name="Text 24"/>
          <p:cNvSpPr/>
          <p:nvPr/>
        </p:nvSpPr>
        <p:spPr>
          <a:xfrm>
            <a:off x="71048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Connect Group</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Visitor</a:t>
            </a:r>
            <a:endParaRPr lang="en-US" sz="1200" dirty="0"/>
          </a:p>
        </p:txBody>
      </p:sp>
      <p:sp>
        <p:nvSpPr>
          <p:cNvPr id="27" name="Shape 25"/>
          <p:cNvSpPr/>
          <p:nvPr/>
        </p:nvSpPr>
        <p:spPr>
          <a:xfrm>
            <a:off x="84216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28" name="Shape 26"/>
          <p:cNvSpPr/>
          <p:nvPr/>
        </p:nvSpPr>
        <p:spPr>
          <a:xfrm>
            <a:off x="8595360" y="1984248"/>
            <a:ext cx="1399032" cy="1097280"/>
          </a:xfrm>
          <a:prstGeom prst="roundRect">
            <a:avLst>
              <a:gd name="adj" fmla="val 6667"/>
            </a:avLst>
          </a:prstGeom>
          <a:solidFill>
            <a:srgbClr val="FFFFFF"/>
          </a:solidFill>
          <a:ln w="12700">
            <a:solidFill>
              <a:srgbClr val="E1D9CE"/>
            </a:solidFill>
            <a:prstDash val="solid"/>
          </a:ln>
        </p:spPr>
        <p:txBody>
          <a:bodyPr/>
          <a:lstStyle/>
          <a:p>
            <a:endParaRPr lang="en-US"/>
          </a:p>
        </p:txBody>
      </p:sp>
      <p:sp>
        <p:nvSpPr>
          <p:cNvPr id="29" name="Text 27"/>
          <p:cNvSpPr/>
          <p:nvPr/>
        </p:nvSpPr>
        <p:spPr>
          <a:xfrm>
            <a:off x="86868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06</a:t>
            </a:r>
            <a:endParaRPr lang="en-US" sz="900" dirty="0"/>
          </a:p>
        </p:txBody>
      </p:sp>
      <p:sp>
        <p:nvSpPr>
          <p:cNvPr id="30" name="Text 28"/>
          <p:cNvSpPr/>
          <p:nvPr/>
        </p:nvSpPr>
        <p:spPr>
          <a:xfrm>
            <a:off x="87050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Active Community</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Member</a:t>
            </a:r>
            <a:endParaRPr lang="en-US" sz="1200" dirty="0"/>
          </a:p>
        </p:txBody>
      </p:sp>
      <p:sp>
        <p:nvSpPr>
          <p:cNvPr id="31" name="Shape 29"/>
          <p:cNvSpPr/>
          <p:nvPr/>
        </p:nvSpPr>
        <p:spPr>
          <a:xfrm>
            <a:off x="10021824" y="2532888"/>
            <a:ext cx="146304" cy="0"/>
          </a:xfrm>
          <a:prstGeom prst="line">
            <a:avLst/>
          </a:prstGeom>
          <a:noFill/>
          <a:ln w="13970">
            <a:solidFill>
              <a:srgbClr val="9C938B"/>
            </a:solidFill>
            <a:prstDash val="solid"/>
            <a:headEnd type="none"/>
            <a:tailEnd type="triangle"/>
          </a:ln>
        </p:spPr>
        <p:txBody>
          <a:bodyPr/>
          <a:lstStyle/>
          <a:p>
            <a:endParaRPr lang="en-US"/>
          </a:p>
        </p:txBody>
      </p:sp>
      <p:sp>
        <p:nvSpPr>
          <p:cNvPr id="32" name="Shape 30"/>
          <p:cNvSpPr/>
          <p:nvPr/>
        </p:nvSpPr>
        <p:spPr>
          <a:xfrm>
            <a:off x="10195560" y="1984248"/>
            <a:ext cx="1399032" cy="1097280"/>
          </a:xfrm>
          <a:prstGeom prst="roundRect">
            <a:avLst>
              <a:gd name="adj" fmla="val 6667"/>
            </a:avLst>
          </a:prstGeom>
          <a:solidFill>
            <a:srgbClr val="FFFFFF"/>
          </a:solidFill>
          <a:ln w="12700">
            <a:solidFill>
              <a:srgbClr val="E1D9CE"/>
            </a:solidFill>
            <a:prstDash val="solid"/>
          </a:ln>
        </p:spPr>
        <p:txBody>
          <a:bodyPr/>
          <a:lstStyle/>
          <a:p>
            <a:endParaRPr lang="en-US"/>
          </a:p>
        </p:txBody>
      </p:sp>
      <p:sp>
        <p:nvSpPr>
          <p:cNvPr id="33" name="Text 31"/>
          <p:cNvSpPr/>
          <p:nvPr/>
        </p:nvSpPr>
        <p:spPr>
          <a:xfrm>
            <a:off x="10287000" y="2103120"/>
            <a:ext cx="420624" cy="201168"/>
          </a:xfrm>
          <a:prstGeom prst="rect">
            <a:avLst/>
          </a:prstGeom>
          <a:noFill/>
          <a:ln/>
        </p:spPr>
        <p:txBody>
          <a:bodyPr wrap="square" lIns="0" tIns="0" rIns="0" bIns="0" rtlCol="0" anchor="ctr"/>
          <a:lstStyle/>
          <a:p>
            <a:pPr marL="0" indent="0">
              <a:buNone/>
            </a:pPr>
            <a:r>
              <a:rPr lang="en-US" sz="900" b="1" dirty="0">
                <a:solidFill>
                  <a:srgbClr val="C8A85E"/>
                </a:solidFill>
                <a:latin typeface="Calibri" pitchFamily="34" charset="0"/>
                <a:ea typeface="Calibri" pitchFamily="34" charset="-122"/>
                <a:cs typeface="Calibri" pitchFamily="34" charset="-120"/>
              </a:rPr>
              <a:t>07</a:t>
            </a:r>
            <a:endParaRPr lang="en-US" sz="900" dirty="0"/>
          </a:p>
        </p:txBody>
      </p:sp>
      <p:sp>
        <p:nvSpPr>
          <p:cNvPr id="34" name="Text 32"/>
          <p:cNvSpPr/>
          <p:nvPr/>
        </p:nvSpPr>
        <p:spPr>
          <a:xfrm>
            <a:off x="10305288" y="2423160"/>
            <a:ext cx="1179576" cy="438912"/>
          </a:xfrm>
          <a:prstGeom prst="rect">
            <a:avLst/>
          </a:prstGeom>
          <a:noFill/>
          <a:ln/>
        </p:spPr>
        <p:txBody>
          <a:bodyPr wrap="square" lIns="0" tIns="0" rIns="0" bIns="0" rtlCol="0" anchor="ctr">
            <a:normAutofit/>
          </a:bodyPr>
          <a:lstStyle/>
          <a:p>
            <a:pPr marL="0" indent="0" algn="ctr">
              <a:buNone/>
            </a:pPr>
            <a:r>
              <a:rPr lang="en-US" sz="1200" b="1" dirty="0">
                <a:solidFill>
                  <a:srgbClr val="1A1814"/>
                </a:solidFill>
                <a:latin typeface="Calibri" pitchFamily="34" charset="0"/>
                <a:ea typeface="Calibri" pitchFamily="34" charset="-122"/>
                <a:cs typeface="Calibri" pitchFamily="34" charset="-120"/>
              </a:rPr>
              <a:t>Future</a:t>
            </a:r>
            <a:endParaRPr lang="en-US" sz="1200" dirty="0"/>
          </a:p>
          <a:p>
            <a:pPr marL="0" indent="0" algn="ctr">
              <a:buNone/>
            </a:pPr>
            <a:r>
              <a:rPr lang="en-US" sz="1200" b="1" dirty="0">
                <a:solidFill>
                  <a:srgbClr val="1A1814"/>
                </a:solidFill>
                <a:latin typeface="Calibri" pitchFamily="34" charset="0"/>
                <a:ea typeface="Calibri" pitchFamily="34" charset="-122"/>
                <a:cs typeface="Calibri" pitchFamily="34" charset="-120"/>
              </a:rPr>
              <a:t>Leader</a:t>
            </a:r>
            <a:endParaRPr lang="en-US" sz="1200" dirty="0"/>
          </a:p>
        </p:txBody>
      </p:sp>
      <p:sp>
        <p:nvSpPr>
          <p:cNvPr id="35" name="Shape 33"/>
          <p:cNvSpPr/>
          <p:nvPr/>
        </p:nvSpPr>
        <p:spPr>
          <a:xfrm rot="10800000">
            <a:off x="3685032" y="3401568"/>
            <a:ext cx="3474720" cy="548640"/>
          </a:xfrm>
          <a:prstGeom prst="bracePair">
            <a:avLst/>
          </a:prstGeom>
          <a:solidFill>
            <a:srgbClr val="F7F4EF">
              <a:alpha val="0"/>
            </a:srgbClr>
          </a:solidFill>
          <a:ln w="20320">
            <a:solidFill>
              <a:srgbClr val="C8A85E"/>
            </a:solidFill>
            <a:prstDash val="solid"/>
          </a:ln>
        </p:spPr>
        <p:txBody>
          <a:bodyPr/>
          <a:lstStyle/>
          <a:p>
            <a:endParaRPr lang="en-US"/>
          </a:p>
        </p:txBody>
      </p:sp>
      <p:sp>
        <p:nvSpPr>
          <p:cNvPr id="36" name="Text 34"/>
          <p:cNvSpPr/>
          <p:nvPr/>
        </p:nvSpPr>
        <p:spPr>
          <a:xfrm>
            <a:off x="3246120" y="3977640"/>
            <a:ext cx="4370832" cy="475488"/>
          </a:xfrm>
          <a:prstGeom prst="rect">
            <a:avLst/>
          </a:prstGeom>
          <a:noFill/>
          <a:ln/>
        </p:spPr>
        <p:txBody>
          <a:bodyPr wrap="square" lIns="0" tIns="0" rIns="0" bIns="0" rtlCol="0" anchor="ctr">
            <a:normAutofit/>
          </a:bodyPr>
          <a:lstStyle/>
          <a:p>
            <a:pPr marL="0" indent="0" algn="ctr">
              <a:buNone/>
            </a:pPr>
            <a:r>
              <a:rPr lang="en-US" sz="1500" b="1" dirty="0">
                <a:solidFill>
                  <a:srgbClr val="1A1814"/>
                </a:solidFill>
                <a:latin typeface="Calibri" pitchFamily="34" charset="0"/>
                <a:ea typeface="Calibri" pitchFamily="34" charset="-122"/>
                <a:cs typeface="Calibri" pitchFamily="34" charset="-120"/>
              </a:rPr>
              <a:t>The Bridge Team focuses here: the uncertain space between familiarity and belonging.</a:t>
            </a:r>
            <a:endParaRPr lang="en-US" sz="1500" dirty="0"/>
          </a:p>
        </p:txBody>
      </p:sp>
      <p:sp>
        <p:nvSpPr>
          <p:cNvPr id="37" name="Shape 35"/>
          <p:cNvSpPr/>
          <p:nvPr/>
        </p:nvSpPr>
        <p:spPr>
          <a:xfrm>
            <a:off x="1417320" y="4983480"/>
            <a:ext cx="9372600" cy="804672"/>
          </a:xfrm>
          <a:prstGeom prst="roundRect">
            <a:avLst>
              <a:gd name="adj" fmla="val 9091"/>
            </a:avLst>
          </a:prstGeom>
          <a:solidFill>
            <a:srgbClr val="FFFFFF"/>
          </a:solidFill>
          <a:ln w="11430">
            <a:solidFill>
              <a:srgbClr val="E6DFD2"/>
            </a:solidFill>
            <a:prstDash val="solid"/>
          </a:ln>
        </p:spPr>
        <p:txBody>
          <a:bodyPr/>
          <a:lstStyle/>
          <a:p>
            <a:endParaRPr lang="en-US"/>
          </a:p>
        </p:txBody>
      </p:sp>
      <p:sp>
        <p:nvSpPr>
          <p:cNvPr id="38" name="Shape 36"/>
          <p:cNvSpPr/>
          <p:nvPr/>
        </p:nvSpPr>
        <p:spPr>
          <a:xfrm>
            <a:off x="1417320" y="4983480"/>
            <a:ext cx="73152" cy="804672"/>
          </a:xfrm>
          <a:prstGeom prst="rect">
            <a:avLst/>
          </a:prstGeom>
          <a:solidFill>
            <a:srgbClr val="A84E42"/>
          </a:solidFill>
          <a:ln w="12700">
            <a:solidFill>
              <a:srgbClr val="A84E42"/>
            </a:solidFill>
            <a:prstDash val="solid"/>
          </a:ln>
        </p:spPr>
        <p:txBody>
          <a:bodyPr/>
          <a:lstStyle/>
          <a:p>
            <a:endParaRPr lang="en-US"/>
          </a:p>
        </p:txBody>
      </p:sp>
      <p:sp>
        <p:nvSpPr>
          <p:cNvPr id="39" name="Text 37"/>
          <p:cNvSpPr/>
          <p:nvPr/>
        </p:nvSpPr>
        <p:spPr>
          <a:xfrm>
            <a:off x="1645920" y="5138928"/>
            <a:ext cx="8988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Why it matters</a:t>
            </a:r>
            <a:endParaRPr lang="en-US" sz="1300" dirty="0"/>
          </a:p>
        </p:txBody>
      </p:sp>
      <p:sp>
        <p:nvSpPr>
          <p:cNvPr id="40" name="Text 38"/>
          <p:cNvSpPr/>
          <p:nvPr/>
        </p:nvSpPr>
        <p:spPr>
          <a:xfrm>
            <a:off x="1645920" y="5513832"/>
            <a:ext cx="8961120" cy="146304"/>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If there is no intentional integration system, people can disappear even when they enjoyed the event.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WHY YOUNG ADULTS DISCONNECT</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People often drift before they ever reject community</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05</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658368" y="164592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9" name="Shape 7"/>
          <p:cNvSpPr/>
          <p:nvPr/>
        </p:nvSpPr>
        <p:spPr>
          <a:xfrm>
            <a:off x="658368" y="1645920"/>
            <a:ext cx="73152" cy="1325880"/>
          </a:xfrm>
          <a:prstGeom prst="rect">
            <a:avLst/>
          </a:prstGeom>
          <a:solidFill>
            <a:srgbClr val="1B7B63"/>
          </a:solidFill>
          <a:ln w="12700">
            <a:solidFill>
              <a:srgbClr val="1B7B63"/>
            </a:solidFill>
            <a:prstDash val="solid"/>
          </a:ln>
        </p:spPr>
        <p:txBody>
          <a:bodyPr/>
          <a:lstStyle/>
          <a:p>
            <a:endParaRPr lang="en-US"/>
          </a:p>
        </p:txBody>
      </p:sp>
      <p:sp>
        <p:nvSpPr>
          <p:cNvPr id="10" name="Text 8"/>
          <p:cNvSpPr/>
          <p:nvPr/>
        </p:nvSpPr>
        <p:spPr>
          <a:xfrm>
            <a:off x="886968" y="180136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Social anxiety</a:t>
            </a:r>
            <a:endParaRPr lang="en-US" sz="1300" dirty="0"/>
          </a:p>
        </p:txBody>
      </p:sp>
      <p:sp>
        <p:nvSpPr>
          <p:cNvPr id="11" name="Text 9"/>
          <p:cNvSpPr/>
          <p:nvPr/>
        </p:nvSpPr>
        <p:spPr>
          <a:xfrm>
            <a:off x="886968" y="217627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The room can feel friendly but still hard to enter.</a:t>
            </a:r>
            <a:endParaRPr lang="en-US" sz="1050" dirty="0"/>
          </a:p>
        </p:txBody>
      </p:sp>
      <p:sp>
        <p:nvSpPr>
          <p:cNvPr id="12" name="Shape 10"/>
          <p:cNvSpPr/>
          <p:nvPr/>
        </p:nvSpPr>
        <p:spPr>
          <a:xfrm>
            <a:off x="4425696" y="164592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13" name="Shape 11"/>
          <p:cNvSpPr/>
          <p:nvPr/>
        </p:nvSpPr>
        <p:spPr>
          <a:xfrm>
            <a:off x="4425696" y="1645920"/>
            <a:ext cx="73152" cy="1325880"/>
          </a:xfrm>
          <a:prstGeom prst="rect">
            <a:avLst/>
          </a:prstGeom>
          <a:solidFill>
            <a:srgbClr val="C8A85E"/>
          </a:solidFill>
          <a:ln w="12700">
            <a:solidFill>
              <a:srgbClr val="C8A85E"/>
            </a:solidFill>
            <a:prstDash val="solid"/>
          </a:ln>
        </p:spPr>
        <p:txBody>
          <a:bodyPr/>
          <a:lstStyle/>
          <a:p>
            <a:endParaRPr lang="en-US"/>
          </a:p>
        </p:txBody>
      </p:sp>
      <p:sp>
        <p:nvSpPr>
          <p:cNvPr id="14" name="Text 12"/>
          <p:cNvSpPr/>
          <p:nvPr/>
        </p:nvSpPr>
        <p:spPr>
          <a:xfrm>
            <a:off x="4654296" y="180136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Fear of commitment</a:t>
            </a:r>
            <a:endParaRPr lang="en-US" sz="1300" dirty="0"/>
          </a:p>
        </p:txBody>
      </p:sp>
      <p:sp>
        <p:nvSpPr>
          <p:cNvPr id="15" name="Text 13"/>
          <p:cNvSpPr/>
          <p:nvPr/>
        </p:nvSpPr>
        <p:spPr>
          <a:xfrm>
            <a:off x="4654296" y="217627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Joining a group can feel permanent before it feels safe.</a:t>
            </a:r>
            <a:endParaRPr lang="en-US" sz="1050" dirty="0"/>
          </a:p>
        </p:txBody>
      </p:sp>
      <p:sp>
        <p:nvSpPr>
          <p:cNvPr id="16" name="Shape 14"/>
          <p:cNvSpPr/>
          <p:nvPr/>
        </p:nvSpPr>
        <p:spPr>
          <a:xfrm>
            <a:off x="8193024" y="164592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17" name="Shape 15"/>
          <p:cNvSpPr/>
          <p:nvPr/>
        </p:nvSpPr>
        <p:spPr>
          <a:xfrm>
            <a:off x="8193024" y="1645920"/>
            <a:ext cx="73152" cy="1325880"/>
          </a:xfrm>
          <a:prstGeom prst="rect">
            <a:avLst/>
          </a:prstGeom>
          <a:solidFill>
            <a:srgbClr val="1E4C8C"/>
          </a:solidFill>
          <a:ln w="12700">
            <a:solidFill>
              <a:srgbClr val="1E4C8C"/>
            </a:solidFill>
            <a:prstDash val="solid"/>
          </a:ln>
        </p:spPr>
        <p:txBody>
          <a:bodyPr/>
          <a:lstStyle/>
          <a:p>
            <a:endParaRPr lang="en-US"/>
          </a:p>
        </p:txBody>
      </p:sp>
      <p:sp>
        <p:nvSpPr>
          <p:cNvPr id="18" name="Text 16"/>
          <p:cNvSpPr/>
          <p:nvPr/>
        </p:nvSpPr>
        <p:spPr>
          <a:xfrm>
            <a:off x="8421624" y="180136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No guided next step</a:t>
            </a:r>
            <a:endParaRPr lang="en-US" sz="1300" dirty="0"/>
          </a:p>
        </p:txBody>
      </p:sp>
      <p:sp>
        <p:nvSpPr>
          <p:cNvPr id="19" name="Text 17"/>
          <p:cNvSpPr/>
          <p:nvPr/>
        </p:nvSpPr>
        <p:spPr>
          <a:xfrm>
            <a:off x="8421624" y="217627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Announcements do not always translate into action.</a:t>
            </a:r>
            <a:endParaRPr lang="en-US" sz="1050" dirty="0"/>
          </a:p>
        </p:txBody>
      </p:sp>
      <p:sp>
        <p:nvSpPr>
          <p:cNvPr id="20" name="Shape 18"/>
          <p:cNvSpPr/>
          <p:nvPr/>
        </p:nvSpPr>
        <p:spPr>
          <a:xfrm>
            <a:off x="658368" y="352044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21" name="Shape 19"/>
          <p:cNvSpPr/>
          <p:nvPr/>
        </p:nvSpPr>
        <p:spPr>
          <a:xfrm>
            <a:off x="658368" y="3520440"/>
            <a:ext cx="73152" cy="1325880"/>
          </a:xfrm>
          <a:prstGeom prst="rect">
            <a:avLst/>
          </a:prstGeom>
          <a:solidFill>
            <a:srgbClr val="1B7B63"/>
          </a:solidFill>
          <a:ln w="12700">
            <a:solidFill>
              <a:srgbClr val="1B7B63"/>
            </a:solidFill>
            <a:prstDash val="solid"/>
          </a:ln>
        </p:spPr>
        <p:txBody>
          <a:bodyPr/>
          <a:lstStyle/>
          <a:p>
            <a:endParaRPr lang="en-US"/>
          </a:p>
        </p:txBody>
      </p:sp>
      <p:sp>
        <p:nvSpPr>
          <p:cNvPr id="22" name="Text 20"/>
          <p:cNvSpPr/>
          <p:nvPr/>
        </p:nvSpPr>
        <p:spPr>
          <a:xfrm>
            <a:off x="886968" y="367588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Feeling unnoticed</a:t>
            </a:r>
            <a:endParaRPr lang="en-US" sz="1300" dirty="0"/>
          </a:p>
        </p:txBody>
      </p:sp>
      <p:sp>
        <p:nvSpPr>
          <p:cNvPr id="23" name="Text 21"/>
          <p:cNvSpPr/>
          <p:nvPr/>
        </p:nvSpPr>
        <p:spPr>
          <a:xfrm>
            <a:off x="886968" y="405079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Repeated attendance without recognition can feel invisible.</a:t>
            </a:r>
            <a:endParaRPr lang="en-US" sz="1050" dirty="0"/>
          </a:p>
        </p:txBody>
      </p:sp>
      <p:sp>
        <p:nvSpPr>
          <p:cNvPr id="24" name="Shape 22"/>
          <p:cNvSpPr/>
          <p:nvPr/>
        </p:nvSpPr>
        <p:spPr>
          <a:xfrm>
            <a:off x="4425696" y="352044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25" name="Shape 23"/>
          <p:cNvSpPr/>
          <p:nvPr/>
        </p:nvSpPr>
        <p:spPr>
          <a:xfrm>
            <a:off x="4425696" y="3520440"/>
            <a:ext cx="73152" cy="1325880"/>
          </a:xfrm>
          <a:prstGeom prst="rect">
            <a:avLst/>
          </a:prstGeom>
          <a:solidFill>
            <a:srgbClr val="C8A85E"/>
          </a:solidFill>
          <a:ln w="12700">
            <a:solidFill>
              <a:srgbClr val="C8A85E"/>
            </a:solidFill>
            <a:prstDash val="solid"/>
          </a:ln>
        </p:spPr>
        <p:txBody>
          <a:bodyPr/>
          <a:lstStyle/>
          <a:p>
            <a:endParaRPr lang="en-US"/>
          </a:p>
        </p:txBody>
      </p:sp>
      <p:sp>
        <p:nvSpPr>
          <p:cNvPr id="26" name="Text 24"/>
          <p:cNvSpPr/>
          <p:nvPr/>
        </p:nvSpPr>
        <p:spPr>
          <a:xfrm>
            <a:off x="4654296" y="367588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Unclear fit</a:t>
            </a:r>
            <a:endParaRPr lang="en-US" sz="1300" dirty="0"/>
          </a:p>
        </p:txBody>
      </p:sp>
      <p:sp>
        <p:nvSpPr>
          <p:cNvPr id="27" name="Text 25"/>
          <p:cNvSpPr/>
          <p:nvPr/>
        </p:nvSpPr>
        <p:spPr>
          <a:xfrm>
            <a:off x="4654296" y="405079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People may not know which group matches their personality or interests.</a:t>
            </a:r>
            <a:endParaRPr lang="en-US" sz="1050" dirty="0"/>
          </a:p>
        </p:txBody>
      </p:sp>
      <p:sp>
        <p:nvSpPr>
          <p:cNvPr id="28" name="Shape 26"/>
          <p:cNvSpPr/>
          <p:nvPr/>
        </p:nvSpPr>
        <p:spPr>
          <a:xfrm>
            <a:off x="8193024" y="3520440"/>
            <a:ext cx="3310128" cy="1325880"/>
          </a:xfrm>
          <a:prstGeom prst="roundRect">
            <a:avLst>
              <a:gd name="adj" fmla="val 5517"/>
            </a:avLst>
          </a:prstGeom>
          <a:solidFill>
            <a:srgbClr val="FFFFFF"/>
          </a:solidFill>
          <a:ln w="11430">
            <a:solidFill>
              <a:srgbClr val="E6DFD2"/>
            </a:solidFill>
            <a:prstDash val="solid"/>
          </a:ln>
        </p:spPr>
        <p:txBody>
          <a:bodyPr/>
          <a:lstStyle/>
          <a:p>
            <a:endParaRPr lang="en-US"/>
          </a:p>
        </p:txBody>
      </p:sp>
      <p:sp>
        <p:nvSpPr>
          <p:cNvPr id="29" name="Shape 27"/>
          <p:cNvSpPr/>
          <p:nvPr/>
        </p:nvSpPr>
        <p:spPr>
          <a:xfrm>
            <a:off x="8193024" y="3520440"/>
            <a:ext cx="73152" cy="1325880"/>
          </a:xfrm>
          <a:prstGeom prst="rect">
            <a:avLst/>
          </a:prstGeom>
          <a:solidFill>
            <a:srgbClr val="1E4C8C"/>
          </a:solidFill>
          <a:ln w="12700">
            <a:solidFill>
              <a:srgbClr val="1E4C8C"/>
            </a:solidFill>
            <a:prstDash val="solid"/>
          </a:ln>
        </p:spPr>
        <p:txBody>
          <a:bodyPr/>
          <a:lstStyle/>
          <a:p>
            <a:endParaRPr lang="en-US"/>
          </a:p>
        </p:txBody>
      </p:sp>
      <p:sp>
        <p:nvSpPr>
          <p:cNvPr id="30" name="Text 28"/>
          <p:cNvSpPr/>
          <p:nvPr/>
        </p:nvSpPr>
        <p:spPr>
          <a:xfrm>
            <a:off x="8421624" y="3675888"/>
            <a:ext cx="292608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Decision fatigue</a:t>
            </a:r>
            <a:endParaRPr lang="en-US" sz="1300" dirty="0"/>
          </a:p>
        </p:txBody>
      </p:sp>
      <p:sp>
        <p:nvSpPr>
          <p:cNvPr id="31" name="Text 29"/>
          <p:cNvSpPr/>
          <p:nvPr/>
        </p:nvSpPr>
        <p:spPr>
          <a:xfrm>
            <a:off x="8421624" y="4050792"/>
            <a:ext cx="2898648" cy="66751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Too many vague options can make people choose none.</a:t>
            </a:r>
            <a:endParaRPr lang="en-US" sz="1050" dirty="0"/>
          </a:p>
        </p:txBody>
      </p:sp>
      <p:sp>
        <p:nvSpPr>
          <p:cNvPr id="32" name="Text 30"/>
          <p:cNvSpPr/>
          <p:nvPr/>
        </p:nvSpPr>
        <p:spPr>
          <a:xfrm>
            <a:off x="914400" y="5532120"/>
            <a:ext cx="10332720" cy="320040"/>
          </a:xfrm>
          <a:prstGeom prst="rect">
            <a:avLst/>
          </a:prstGeom>
          <a:noFill/>
          <a:ln/>
        </p:spPr>
        <p:txBody>
          <a:bodyPr wrap="square" lIns="0" tIns="0" rIns="0" bIns="0" rtlCol="0" anchor="ctr"/>
          <a:lstStyle/>
          <a:p>
            <a:pPr marL="0" indent="0" algn="ctr">
              <a:buNone/>
            </a:pPr>
            <a:r>
              <a:rPr lang="en-US" sz="1700" b="1" dirty="0">
                <a:solidFill>
                  <a:srgbClr val="1A1814"/>
                </a:solidFill>
                <a:latin typeface="Calibri" pitchFamily="34" charset="0"/>
                <a:ea typeface="Calibri" pitchFamily="34" charset="-122"/>
                <a:cs typeface="Calibri" pitchFamily="34" charset="-120"/>
              </a:rPr>
              <a:t>Our posture: warm, low-pressure, observant, and relationally intentional.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658368" y="502920"/>
            <a:ext cx="5120640" cy="201168"/>
          </a:xfrm>
          <a:prstGeom prst="rect">
            <a:avLst/>
          </a:prstGeom>
          <a:noFill/>
          <a:ln/>
        </p:spPr>
        <p:txBody>
          <a:bodyPr wrap="square" lIns="0" tIns="0" rIns="0" bIns="0" rtlCol="0" anchor="ctr"/>
          <a:lstStyle/>
          <a:p>
            <a:pPr marL="0" indent="0">
              <a:buNone/>
            </a:pPr>
            <a:r>
              <a:rPr lang="en-US" sz="900" b="1" dirty="0">
                <a:solidFill>
                  <a:srgbClr val="E4C576"/>
                </a:solidFill>
                <a:latin typeface="Calibri" pitchFamily="34" charset="0"/>
                <a:ea typeface="Calibri" pitchFamily="34" charset="-122"/>
                <a:cs typeface="Calibri" pitchFamily="34" charset="-120"/>
              </a:rPr>
              <a:t>WHAT IS THE BRIDGE TEAM?</a:t>
            </a:r>
            <a:endParaRPr lang="en-US" sz="900" dirty="0"/>
          </a:p>
        </p:txBody>
      </p:sp>
      <p:sp>
        <p:nvSpPr>
          <p:cNvPr id="3" name="Text 1"/>
          <p:cNvSpPr/>
          <p:nvPr/>
        </p:nvSpPr>
        <p:spPr>
          <a:xfrm>
            <a:off x="658368" y="868680"/>
            <a:ext cx="8595360" cy="530352"/>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Calibri" pitchFamily="34" charset="0"/>
                <a:ea typeface="Calibri" pitchFamily="34" charset="-122"/>
                <a:cs typeface="Calibri" pitchFamily="34" charset="-120"/>
              </a:rPr>
              <a:t>A relational infrastructure team for community integration</a:t>
            </a:r>
            <a:endParaRPr lang="en-US" sz="2800" dirty="0"/>
          </a:p>
        </p:txBody>
      </p:sp>
      <p:sp>
        <p:nvSpPr>
          <p:cNvPr id="4" name="Shape 2"/>
          <p:cNvSpPr/>
          <p:nvPr/>
        </p:nvSpPr>
        <p:spPr>
          <a:xfrm>
            <a:off x="987552" y="1828800"/>
            <a:ext cx="10204704" cy="1920240"/>
          </a:xfrm>
          <a:prstGeom prst="roundRect">
            <a:avLst>
              <a:gd name="adj" fmla="val 4286"/>
            </a:avLst>
          </a:prstGeom>
          <a:solidFill>
            <a:srgbClr val="1E1B18"/>
          </a:solidFill>
          <a:ln w="12700">
            <a:solidFill>
              <a:srgbClr val="3A332B"/>
            </a:solidFill>
            <a:prstDash val="solid"/>
          </a:ln>
        </p:spPr>
        <p:txBody>
          <a:bodyPr/>
          <a:lstStyle/>
          <a:p>
            <a:endParaRPr lang="en-US"/>
          </a:p>
        </p:txBody>
      </p:sp>
      <p:sp>
        <p:nvSpPr>
          <p:cNvPr id="5" name="Text 3"/>
          <p:cNvSpPr/>
          <p:nvPr/>
        </p:nvSpPr>
        <p:spPr>
          <a:xfrm>
            <a:off x="1170432" y="1874520"/>
            <a:ext cx="411480" cy="457200"/>
          </a:xfrm>
          <a:prstGeom prst="rect">
            <a:avLst/>
          </a:prstGeom>
          <a:noFill/>
          <a:ln/>
        </p:spPr>
        <p:txBody>
          <a:bodyPr wrap="square" lIns="0" tIns="0" rIns="0" bIns="0" rtlCol="0" anchor="ctr"/>
          <a:lstStyle/>
          <a:p>
            <a:pPr marL="0" indent="0">
              <a:buNone/>
            </a:pPr>
            <a:r>
              <a:rPr lang="en-US" sz="3800" b="1" dirty="0">
                <a:solidFill>
                  <a:srgbClr val="C8A85E"/>
                </a:solidFill>
                <a:latin typeface="Georgia" pitchFamily="34" charset="0"/>
                <a:ea typeface="Georgia" pitchFamily="34" charset="-122"/>
                <a:cs typeface="Georgia" pitchFamily="34" charset="-120"/>
              </a:rPr>
              <a:t>“</a:t>
            </a:r>
            <a:endParaRPr lang="en-US" sz="3800" dirty="0"/>
          </a:p>
        </p:txBody>
      </p:sp>
      <p:sp>
        <p:nvSpPr>
          <p:cNvPr id="6" name="Text 4"/>
          <p:cNvSpPr/>
          <p:nvPr/>
        </p:nvSpPr>
        <p:spPr>
          <a:xfrm>
            <a:off x="1655064" y="2048256"/>
            <a:ext cx="9290304" cy="1536192"/>
          </a:xfrm>
          <a:prstGeom prst="rect">
            <a:avLst/>
          </a:prstGeom>
          <a:noFill/>
          <a:ln/>
        </p:spPr>
        <p:txBody>
          <a:bodyPr wrap="square" lIns="254" tIns="254" rIns="254" bIns="254" rtlCol="0" anchor="ctr">
            <a:normAutofit/>
          </a:bodyPr>
          <a:lstStyle/>
          <a:p>
            <a:pPr marL="0" indent="0">
              <a:buNone/>
            </a:pPr>
            <a:r>
              <a:rPr lang="en-US" sz="2100" b="1" dirty="0">
                <a:solidFill>
                  <a:srgbClr val="FFFFFF"/>
                </a:solidFill>
                <a:latin typeface="Calibri" pitchFamily="34" charset="0"/>
                <a:ea typeface="Calibri" pitchFamily="34" charset="-122"/>
                <a:cs typeface="Calibri" pitchFamily="34" charset="-120"/>
              </a:rPr>
              <a:t>The Bridge Team exists to intentionally connect recurring OUTLET attendees into authentic community through relationship-building, guided follow-up, and Connect Group integration.</a:t>
            </a:r>
            <a:endParaRPr lang="en-US" sz="2100" dirty="0"/>
          </a:p>
        </p:txBody>
      </p:sp>
      <p:sp>
        <p:nvSpPr>
          <p:cNvPr id="7" name="Shape 5"/>
          <p:cNvSpPr/>
          <p:nvPr/>
        </p:nvSpPr>
        <p:spPr>
          <a:xfrm>
            <a:off x="1133856" y="4370832"/>
            <a:ext cx="1627632" cy="658368"/>
          </a:xfrm>
          <a:prstGeom prst="roundRect">
            <a:avLst>
              <a:gd name="adj" fmla="val 11111"/>
            </a:avLst>
          </a:prstGeom>
          <a:solidFill>
            <a:srgbClr val="1E1B18"/>
          </a:solidFill>
          <a:ln w="15240">
            <a:solidFill>
              <a:srgbClr val="C8A85E"/>
            </a:solidFill>
            <a:prstDash val="solid"/>
          </a:ln>
        </p:spPr>
        <p:txBody>
          <a:bodyPr/>
          <a:lstStyle/>
          <a:p>
            <a:endParaRPr lang="en-US"/>
          </a:p>
        </p:txBody>
      </p:sp>
      <p:sp>
        <p:nvSpPr>
          <p:cNvPr id="8" name="Text 6"/>
          <p:cNvSpPr/>
          <p:nvPr/>
        </p:nvSpPr>
        <p:spPr>
          <a:xfrm>
            <a:off x="1133856" y="4581144"/>
            <a:ext cx="1627632" cy="182880"/>
          </a:xfrm>
          <a:prstGeom prst="rect">
            <a:avLst/>
          </a:prstGeom>
          <a:noFill/>
          <a:ln/>
        </p:spPr>
        <p:txBody>
          <a:bodyPr wrap="square" lIns="0" tIns="0" rIns="0" bIns="0" rtlCol="0" anchor="ctr"/>
          <a:lstStyle/>
          <a:p>
            <a:pPr marL="0" indent="0" algn="ctr">
              <a:buNone/>
            </a:pPr>
            <a:r>
              <a:rPr lang="en-US" sz="1220" b="1" dirty="0">
                <a:solidFill>
                  <a:srgbClr val="FFFFFF"/>
                </a:solidFill>
                <a:latin typeface="Calibri" pitchFamily="34" charset="0"/>
                <a:ea typeface="Calibri" pitchFamily="34" charset="-122"/>
                <a:cs typeface="Calibri" pitchFamily="34" charset="-120"/>
              </a:rPr>
              <a:t>Welcome</a:t>
            </a:r>
            <a:endParaRPr lang="en-US" sz="1220" dirty="0"/>
          </a:p>
        </p:txBody>
      </p:sp>
      <p:sp>
        <p:nvSpPr>
          <p:cNvPr id="9" name="Shape 7"/>
          <p:cNvSpPr/>
          <p:nvPr/>
        </p:nvSpPr>
        <p:spPr>
          <a:xfrm>
            <a:off x="3191256" y="4370832"/>
            <a:ext cx="1627632" cy="658368"/>
          </a:xfrm>
          <a:prstGeom prst="roundRect">
            <a:avLst>
              <a:gd name="adj" fmla="val 11111"/>
            </a:avLst>
          </a:prstGeom>
          <a:solidFill>
            <a:srgbClr val="1E1B18"/>
          </a:solidFill>
          <a:ln w="15240">
            <a:solidFill>
              <a:srgbClr val="1B7B63"/>
            </a:solidFill>
            <a:prstDash val="solid"/>
          </a:ln>
        </p:spPr>
        <p:txBody>
          <a:bodyPr/>
          <a:lstStyle/>
          <a:p>
            <a:endParaRPr lang="en-US"/>
          </a:p>
        </p:txBody>
      </p:sp>
      <p:sp>
        <p:nvSpPr>
          <p:cNvPr id="10" name="Text 8"/>
          <p:cNvSpPr/>
          <p:nvPr/>
        </p:nvSpPr>
        <p:spPr>
          <a:xfrm>
            <a:off x="3191256" y="4581144"/>
            <a:ext cx="1627632" cy="182880"/>
          </a:xfrm>
          <a:prstGeom prst="rect">
            <a:avLst/>
          </a:prstGeom>
          <a:noFill/>
          <a:ln/>
        </p:spPr>
        <p:txBody>
          <a:bodyPr wrap="square" lIns="0" tIns="0" rIns="0" bIns="0" rtlCol="0" anchor="ctr"/>
          <a:lstStyle/>
          <a:p>
            <a:pPr marL="0" indent="0" algn="ctr">
              <a:buNone/>
            </a:pPr>
            <a:r>
              <a:rPr lang="en-US" sz="1220" b="1" dirty="0">
                <a:solidFill>
                  <a:srgbClr val="FFFFFF"/>
                </a:solidFill>
                <a:latin typeface="Calibri" pitchFamily="34" charset="0"/>
                <a:ea typeface="Calibri" pitchFamily="34" charset="-122"/>
                <a:cs typeface="Calibri" pitchFamily="34" charset="-120"/>
              </a:rPr>
              <a:t>Observe</a:t>
            </a:r>
            <a:endParaRPr lang="en-US" sz="1220" dirty="0"/>
          </a:p>
        </p:txBody>
      </p:sp>
      <p:sp>
        <p:nvSpPr>
          <p:cNvPr id="11" name="Shape 9"/>
          <p:cNvSpPr/>
          <p:nvPr/>
        </p:nvSpPr>
        <p:spPr>
          <a:xfrm>
            <a:off x="5248656" y="4370832"/>
            <a:ext cx="1627632" cy="658368"/>
          </a:xfrm>
          <a:prstGeom prst="roundRect">
            <a:avLst>
              <a:gd name="adj" fmla="val 11111"/>
            </a:avLst>
          </a:prstGeom>
          <a:solidFill>
            <a:srgbClr val="1E1B18"/>
          </a:solidFill>
          <a:ln w="15240">
            <a:solidFill>
              <a:srgbClr val="1E4C8C"/>
            </a:solidFill>
            <a:prstDash val="solid"/>
          </a:ln>
        </p:spPr>
        <p:txBody>
          <a:bodyPr/>
          <a:lstStyle/>
          <a:p>
            <a:endParaRPr lang="en-US"/>
          </a:p>
        </p:txBody>
      </p:sp>
      <p:sp>
        <p:nvSpPr>
          <p:cNvPr id="12" name="Text 10"/>
          <p:cNvSpPr/>
          <p:nvPr/>
        </p:nvSpPr>
        <p:spPr>
          <a:xfrm>
            <a:off x="5248656" y="4581144"/>
            <a:ext cx="1627632" cy="182880"/>
          </a:xfrm>
          <a:prstGeom prst="rect">
            <a:avLst/>
          </a:prstGeom>
          <a:noFill/>
          <a:ln/>
        </p:spPr>
        <p:txBody>
          <a:bodyPr wrap="square" lIns="0" tIns="0" rIns="0" bIns="0" rtlCol="0" anchor="ctr"/>
          <a:lstStyle/>
          <a:p>
            <a:pPr marL="0" indent="0" algn="ctr">
              <a:buNone/>
            </a:pPr>
            <a:r>
              <a:rPr lang="en-US" sz="1220" b="1" dirty="0">
                <a:solidFill>
                  <a:srgbClr val="FFFFFF"/>
                </a:solidFill>
                <a:latin typeface="Calibri" pitchFamily="34" charset="0"/>
                <a:ea typeface="Calibri" pitchFamily="34" charset="-122"/>
                <a:cs typeface="Calibri" pitchFamily="34" charset="-120"/>
              </a:rPr>
              <a:t>Guide</a:t>
            </a:r>
            <a:endParaRPr lang="en-US" sz="1220" dirty="0"/>
          </a:p>
        </p:txBody>
      </p:sp>
      <p:sp>
        <p:nvSpPr>
          <p:cNvPr id="13" name="Shape 11"/>
          <p:cNvSpPr/>
          <p:nvPr/>
        </p:nvSpPr>
        <p:spPr>
          <a:xfrm>
            <a:off x="7306056" y="4370832"/>
            <a:ext cx="1627632" cy="658368"/>
          </a:xfrm>
          <a:prstGeom prst="roundRect">
            <a:avLst>
              <a:gd name="adj" fmla="val 11111"/>
            </a:avLst>
          </a:prstGeom>
          <a:solidFill>
            <a:srgbClr val="1E1B18"/>
          </a:solidFill>
          <a:ln w="15240">
            <a:solidFill>
              <a:srgbClr val="C8A85E"/>
            </a:solidFill>
            <a:prstDash val="solid"/>
          </a:ln>
        </p:spPr>
        <p:txBody>
          <a:bodyPr/>
          <a:lstStyle/>
          <a:p>
            <a:endParaRPr lang="en-US"/>
          </a:p>
        </p:txBody>
      </p:sp>
      <p:sp>
        <p:nvSpPr>
          <p:cNvPr id="14" name="Text 12"/>
          <p:cNvSpPr/>
          <p:nvPr/>
        </p:nvSpPr>
        <p:spPr>
          <a:xfrm>
            <a:off x="7306056" y="4581144"/>
            <a:ext cx="1627632" cy="182880"/>
          </a:xfrm>
          <a:prstGeom prst="rect">
            <a:avLst/>
          </a:prstGeom>
          <a:noFill/>
          <a:ln/>
        </p:spPr>
        <p:txBody>
          <a:bodyPr wrap="square" lIns="0" tIns="0" rIns="0" bIns="0" rtlCol="0" anchor="ctr"/>
          <a:lstStyle/>
          <a:p>
            <a:pPr marL="0" indent="0" algn="ctr">
              <a:buNone/>
            </a:pPr>
            <a:r>
              <a:rPr lang="en-US" sz="1220" b="1" dirty="0">
                <a:solidFill>
                  <a:srgbClr val="FFFFFF"/>
                </a:solidFill>
                <a:latin typeface="Calibri" pitchFamily="34" charset="0"/>
                <a:ea typeface="Calibri" pitchFamily="34" charset="-122"/>
                <a:cs typeface="Calibri" pitchFamily="34" charset="-120"/>
              </a:rPr>
              <a:t>Retain</a:t>
            </a:r>
            <a:endParaRPr lang="en-US" sz="1220" dirty="0"/>
          </a:p>
        </p:txBody>
      </p:sp>
      <p:sp>
        <p:nvSpPr>
          <p:cNvPr id="15" name="Shape 13"/>
          <p:cNvSpPr/>
          <p:nvPr/>
        </p:nvSpPr>
        <p:spPr>
          <a:xfrm>
            <a:off x="9363456" y="4370832"/>
            <a:ext cx="1627632" cy="658368"/>
          </a:xfrm>
          <a:prstGeom prst="roundRect">
            <a:avLst>
              <a:gd name="adj" fmla="val 11111"/>
            </a:avLst>
          </a:prstGeom>
          <a:solidFill>
            <a:srgbClr val="1E1B18"/>
          </a:solidFill>
          <a:ln w="15240">
            <a:solidFill>
              <a:srgbClr val="1B7B63"/>
            </a:solidFill>
            <a:prstDash val="solid"/>
          </a:ln>
        </p:spPr>
        <p:txBody>
          <a:bodyPr/>
          <a:lstStyle/>
          <a:p>
            <a:endParaRPr lang="en-US"/>
          </a:p>
        </p:txBody>
      </p:sp>
      <p:sp>
        <p:nvSpPr>
          <p:cNvPr id="16" name="Text 14"/>
          <p:cNvSpPr/>
          <p:nvPr/>
        </p:nvSpPr>
        <p:spPr>
          <a:xfrm>
            <a:off x="9363456" y="4581144"/>
            <a:ext cx="1627632" cy="182880"/>
          </a:xfrm>
          <a:prstGeom prst="rect">
            <a:avLst/>
          </a:prstGeom>
          <a:noFill/>
          <a:ln/>
        </p:spPr>
        <p:txBody>
          <a:bodyPr wrap="square" lIns="0" tIns="0" rIns="0" bIns="0" rtlCol="0" anchor="ctr"/>
          <a:lstStyle/>
          <a:p>
            <a:pPr marL="0" indent="0" algn="ctr">
              <a:buNone/>
            </a:pPr>
            <a:r>
              <a:rPr lang="en-US" sz="1220" b="1" dirty="0">
                <a:solidFill>
                  <a:srgbClr val="FFFFFF"/>
                </a:solidFill>
                <a:latin typeface="Calibri" pitchFamily="34" charset="0"/>
                <a:ea typeface="Calibri" pitchFamily="34" charset="-122"/>
                <a:cs typeface="Calibri" pitchFamily="34" charset="-120"/>
              </a:rPr>
              <a:t>Develop</a:t>
            </a:r>
            <a:endParaRPr lang="en-US" sz="1220" dirty="0"/>
          </a:p>
        </p:txBody>
      </p:sp>
      <p:sp>
        <p:nvSpPr>
          <p:cNvPr id="17" name="Text 15"/>
          <p:cNvSpPr/>
          <p:nvPr/>
        </p:nvSpPr>
        <p:spPr>
          <a:xfrm>
            <a:off x="1005840" y="5623560"/>
            <a:ext cx="10149840" cy="320040"/>
          </a:xfrm>
          <a:prstGeom prst="rect">
            <a:avLst/>
          </a:prstGeom>
          <a:noFill/>
          <a:ln/>
        </p:spPr>
        <p:txBody>
          <a:bodyPr wrap="square" lIns="0" tIns="0" rIns="0" bIns="0" rtlCol="0" anchor="ctr"/>
          <a:lstStyle/>
          <a:p>
            <a:pPr marL="0" indent="0" algn="ctr">
              <a:buNone/>
            </a:pPr>
            <a:r>
              <a:rPr lang="en-US" sz="1650" b="1" dirty="0">
                <a:solidFill>
                  <a:srgbClr val="E4DFD6"/>
                </a:solidFill>
                <a:latin typeface="Calibri" pitchFamily="34" charset="0"/>
                <a:ea typeface="Calibri" pitchFamily="34" charset="-122"/>
                <a:cs typeface="Calibri" pitchFamily="34" charset="-120"/>
              </a:rPr>
              <a:t>Not a signup crew. Not a pressure campaign. A bridge into belonging.</a:t>
            </a:r>
            <a:endParaRPr lang="en-US" sz="1650" dirty="0"/>
          </a:p>
        </p:txBody>
      </p:sp>
      <p:sp>
        <p:nvSpPr>
          <p:cNvPr id="18" name="Text 16"/>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D9D2C7"/>
                </a:solidFill>
                <a:latin typeface="Calibri" pitchFamily="34" charset="0"/>
                <a:ea typeface="Calibri" pitchFamily="34" charset="-122"/>
                <a:cs typeface="Calibri" pitchFamily="34" charset="-120"/>
              </a:rPr>
              <a:t>OUTLET Bridge Team</a:t>
            </a:r>
            <a:endParaRPr lang="en-US" sz="750" dirty="0"/>
          </a:p>
        </p:txBody>
      </p:sp>
      <p:sp>
        <p:nvSpPr>
          <p:cNvPr id="19" name="Text 17"/>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E4C576"/>
                </a:solidFill>
                <a:latin typeface="Calibri" pitchFamily="34" charset="0"/>
                <a:ea typeface="Calibri" pitchFamily="34" charset="-122"/>
                <a:cs typeface="Calibri" pitchFamily="34" charset="-120"/>
              </a:rPr>
              <a:t>06</a:t>
            </a:r>
            <a:endParaRPr lang="en-US" sz="800" dirty="0"/>
          </a:p>
        </p:txBody>
      </p:sp>
      <p:sp>
        <p:nvSpPr>
          <p:cNvPr id="20" name="Shape 18"/>
          <p:cNvSpPr/>
          <p:nvPr/>
        </p:nvSpPr>
        <p:spPr>
          <a:xfrm>
            <a:off x="502920" y="6345936"/>
            <a:ext cx="11109960" cy="0"/>
          </a:xfrm>
          <a:prstGeom prst="line">
            <a:avLst/>
          </a:prstGeom>
          <a:noFill/>
          <a:ln w="7620">
            <a:solidFill>
              <a:srgbClr val="3B342D"/>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THE PHILOSOPHY</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Connection before commitment</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07</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1143000" y="1554480"/>
            <a:ext cx="9966960" cy="310896"/>
          </a:xfrm>
          <a:prstGeom prst="rect">
            <a:avLst/>
          </a:prstGeom>
          <a:noFill/>
          <a:ln/>
        </p:spPr>
        <p:txBody>
          <a:bodyPr wrap="square" lIns="0" tIns="0" rIns="0" bIns="0" rtlCol="0" anchor="ctr"/>
          <a:lstStyle/>
          <a:p>
            <a:pPr marL="0" indent="0" algn="ctr">
              <a:buNone/>
            </a:pPr>
            <a:r>
              <a:rPr lang="en-US" sz="1700" b="1" dirty="0">
                <a:solidFill>
                  <a:srgbClr val="1A1814"/>
                </a:solidFill>
                <a:latin typeface="Calibri" pitchFamily="34" charset="0"/>
                <a:ea typeface="Calibri" pitchFamily="34" charset="-122"/>
                <a:cs typeface="Calibri" pitchFamily="34" charset="-120"/>
              </a:rPr>
              <a:t>The emotional experience should shift from pressure to guided belonging.</a:t>
            </a:r>
            <a:endParaRPr lang="en-US" sz="1700" dirty="0"/>
          </a:p>
        </p:txBody>
      </p:sp>
      <p:sp>
        <p:nvSpPr>
          <p:cNvPr id="9" name="Shape 7"/>
          <p:cNvSpPr/>
          <p:nvPr/>
        </p:nvSpPr>
        <p:spPr>
          <a:xfrm>
            <a:off x="1051560" y="2240280"/>
            <a:ext cx="4343400" cy="2514600"/>
          </a:xfrm>
          <a:prstGeom prst="roundRect">
            <a:avLst>
              <a:gd name="adj" fmla="val 2909"/>
            </a:avLst>
          </a:prstGeom>
          <a:solidFill>
            <a:srgbClr val="FFF8F6"/>
          </a:solidFill>
          <a:ln w="11430">
            <a:solidFill>
              <a:srgbClr val="E6DFD2"/>
            </a:solidFill>
            <a:prstDash val="solid"/>
          </a:ln>
        </p:spPr>
        <p:txBody>
          <a:bodyPr/>
          <a:lstStyle/>
          <a:p>
            <a:endParaRPr lang="en-US"/>
          </a:p>
        </p:txBody>
      </p:sp>
      <p:sp>
        <p:nvSpPr>
          <p:cNvPr id="10" name="Shape 8"/>
          <p:cNvSpPr/>
          <p:nvPr/>
        </p:nvSpPr>
        <p:spPr>
          <a:xfrm>
            <a:off x="1051560" y="2240280"/>
            <a:ext cx="73152" cy="2514600"/>
          </a:xfrm>
          <a:prstGeom prst="rect">
            <a:avLst/>
          </a:prstGeom>
          <a:solidFill>
            <a:srgbClr val="A84E42"/>
          </a:solidFill>
          <a:ln w="12700">
            <a:solidFill>
              <a:srgbClr val="A84E42"/>
            </a:solidFill>
            <a:prstDash val="solid"/>
          </a:ln>
        </p:spPr>
        <p:txBody>
          <a:bodyPr/>
          <a:lstStyle/>
          <a:p>
            <a:endParaRPr lang="en-US"/>
          </a:p>
        </p:txBody>
      </p:sp>
      <p:sp>
        <p:nvSpPr>
          <p:cNvPr id="11" name="Text 9"/>
          <p:cNvSpPr/>
          <p:nvPr/>
        </p:nvSpPr>
        <p:spPr>
          <a:xfrm>
            <a:off x="1280160" y="2395728"/>
            <a:ext cx="39593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What we are not</a:t>
            </a:r>
            <a:endParaRPr lang="en-US" sz="1300" dirty="0"/>
          </a:p>
        </p:txBody>
      </p:sp>
      <p:sp>
        <p:nvSpPr>
          <p:cNvPr id="12" name="Text 10"/>
          <p:cNvSpPr/>
          <p:nvPr/>
        </p:nvSpPr>
        <p:spPr>
          <a:xfrm>
            <a:off x="1307592" y="2770632"/>
            <a:ext cx="3904488" cy="18562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Not salespeople</a:t>
            </a:r>
            <a:endParaRPr lang="en-US" sz="1020" dirty="0"/>
          </a:p>
          <a:p>
            <a:r>
              <a:rPr lang="en-US" sz="1020" dirty="0">
                <a:solidFill>
                  <a:srgbClr val="6F6861"/>
                </a:solidFill>
                <a:latin typeface="Calibri" pitchFamily="34" charset="0"/>
                <a:ea typeface="Calibri" pitchFamily="34" charset="-122"/>
                <a:cs typeface="Calibri" pitchFamily="34" charset="-120"/>
              </a:rPr>
              <a:t>Not chasing numbers</a:t>
            </a:r>
            <a:endParaRPr lang="en-US" sz="1020" dirty="0"/>
          </a:p>
          <a:p>
            <a:r>
              <a:rPr lang="en-US" sz="1020" dirty="0">
                <a:solidFill>
                  <a:srgbClr val="6F6861"/>
                </a:solidFill>
                <a:latin typeface="Calibri" pitchFamily="34" charset="0"/>
                <a:ea typeface="Calibri" pitchFamily="34" charset="-122"/>
                <a:cs typeface="Calibri" pitchFamily="34" charset="-120"/>
              </a:rPr>
              <a:t>Not forcing Connect Group placement</a:t>
            </a:r>
            <a:endParaRPr lang="en-US" sz="1020" dirty="0"/>
          </a:p>
          <a:p>
            <a:r>
              <a:rPr lang="en-US" sz="1020" dirty="0">
                <a:solidFill>
                  <a:srgbClr val="6F6861"/>
                </a:solidFill>
                <a:latin typeface="Calibri" pitchFamily="34" charset="0"/>
                <a:ea typeface="Calibri" pitchFamily="34" charset="-122"/>
                <a:cs typeface="Calibri" pitchFamily="34" charset="-120"/>
              </a:rPr>
              <a:t>Not making people feel like projects</a:t>
            </a:r>
            <a:endParaRPr lang="en-US" sz="1020" dirty="0"/>
          </a:p>
        </p:txBody>
      </p:sp>
      <p:sp>
        <p:nvSpPr>
          <p:cNvPr id="13" name="Shape 11"/>
          <p:cNvSpPr/>
          <p:nvPr/>
        </p:nvSpPr>
        <p:spPr>
          <a:xfrm>
            <a:off x="6784848" y="2240280"/>
            <a:ext cx="4343400" cy="2514600"/>
          </a:xfrm>
          <a:prstGeom prst="roundRect">
            <a:avLst>
              <a:gd name="adj" fmla="val 2909"/>
            </a:avLst>
          </a:prstGeom>
          <a:solidFill>
            <a:srgbClr val="F2FBF8"/>
          </a:solidFill>
          <a:ln w="11430">
            <a:solidFill>
              <a:srgbClr val="E6DFD2"/>
            </a:solidFill>
            <a:prstDash val="solid"/>
          </a:ln>
        </p:spPr>
        <p:txBody>
          <a:bodyPr/>
          <a:lstStyle/>
          <a:p>
            <a:endParaRPr lang="en-US"/>
          </a:p>
        </p:txBody>
      </p:sp>
      <p:sp>
        <p:nvSpPr>
          <p:cNvPr id="14" name="Shape 12"/>
          <p:cNvSpPr/>
          <p:nvPr/>
        </p:nvSpPr>
        <p:spPr>
          <a:xfrm>
            <a:off x="6784848" y="2240280"/>
            <a:ext cx="73152" cy="2514600"/>
          </a:xfrm>
          <a:prstGeom prst="rect">
            <a:avLst/>
          </a:prstGeom>
          <a:solidFill>
            <a:srgbClr val="1B7B63"/>
          </a:solidFill>
          <a:ln w="12700">
            <a:solidFill>
              <a:srgbClr val="1B7B63"/>
            </a:solidFill>
            <a:prstDash val="solid"/>
          </a:ln>
        </p:spPr>
        <p:txBody>
          <a:bodyPr/>
          <a:lstStyle/>
          <a:p>
            <a:endParaRPr lang="en-US"/>
          </a:p>
        </p:txBody>
      </p:sp>
      <p:sp>
        <p:nvSpPr>
          <p:cNvPr id="15" name="Text 13"/>
          <p:cNvSpPr/>
          <p:nvPr/>
        </p:nvSpPr>
        <p:spPr>
          <a:xfrm>
            <a:off x="7013448" y="2395728"/>
            <a:ext cx="39593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What we are</a:t>
            </a:r>
            <a:endParaRPr lang="en-US" sz="1300" dirty="0"/>
          </a:p>
        </p:txBody>
      </p:sp>
      <p:sp>
        <p:nvSpPr>
          <p:cNvPr id="16" name="Text 14"/>
          <p:cNvSpPr/>
          <p:nvPr/>
        </p:nvSpPr>
        <p:spPr>
          <a:xfrm>
            <a:off x="7040880" y="2770632"/>
            <a:ext cx="3904488" cy="18562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Relational guides</a:t>
            </a:r>
            <a:endParaRPr lang="en-US" sz="1020" dirty="0"/>
          </a:p>
          <a:p>
            <a:r>
              <a:rPr lang="en-US" sz="1020" dirty="0">
                <a:solidFill>
                  <a:srgbClr val="6F6861"/>
                </a:solidFill>
                <a:latin typeface="Calibri" pitchFamily="34" charset="0"/>
                <a:ea typeface="Calibri" pitchFamily="34" charset="-122"/>
                <a:cs typeface="Calibri" pitchFamily="34" charset="-120"/>
              </a:rPr>
              <a:t>Community facilitators</a:t>
            </a:r>
            <a:endParaRPr lang="en-US" sz="1020" dirty="0"/>
          </a:p>
          <a:p>
            <a:r>
              <a:rPr lang="en-US" sz="1020" dirty="0">
                <a:solidFill>
                  <a:srgbClr val="6F6861"/>
                </a:solidFill>
                <a:latin typeface="Calibri" pitchFamily="34" charset="0"/>
                <a:ea typeface="Calibri" pitchFamily="34" charset="-122"/>
                <a:cs typeface="Calibri" pitchFamily="34" charset="-120"/>
              </a:rPr>
              <a:t>Warm next-step translators</a:t>
            </a:r>
            <a:endParaRPr lang="en-US" sz="1020" dirty="0"/>
          </a:p>
          <a:p>
            <a:r>
              <a:rPr lang="en-US" sz="1020" dirty="0">
                <a:solidFill>
                  <a:srgbClr val="6F6861"/>
                </a:solidFill>
                <a:latin typeface="Calibri" pitchFamily="34" charset="0"/>
                <a:ea typeface="Calibri" pitchFamily="34" charset="-122"/>
                <a:cs typeface="Calibri" pitchFamily="34" charset="-120"/>
              </a:rPr>
              <a:t>People who help others discover fit</a:t>
            </a:r>
            <a:endParaRPr lang="en-US" sz="1020" dirty="0"/>
          </a:p>
        </p:txBody>
      </p:sp>
      <p:sp>
        <p:nvSpPr>
          <p:cNvPr id="17" name="Shape 15"/>
          <p:cNvSpPr/>
          <p:nvPr/>
        </p:nvSpPr>
        <p:spPr>
          <a:xfrm>
            <a:off x="5852160" y="3474720"/>
            <a:ext cx="502920" cy="0"/>
          </a:xfrm>
          <a:prstGeom prst="line">
            <a:avLst/>
          </a:prstGeom>
          <a:noFill/>
          <a:ln w="27940">
            <a:solidFill>
              <a:srgbClr val="C8A85E"/>
            </a:solidFill>
            <a:prstDash val="solid"/>
            <a:tailEnd type="triangle"/>
          </a:ln>
        </p:spPr>
        <p:txBody>
          <a:bodyPr/>
          <a:lstStyle/>
          <a:p>
            <a:endParaRPr lang="en-US"/>
          </a:p>
        </p:txBody>
      </p:sp>
      <p:sp>
        <p:nvSpPr>
          <p:cNvPr id="18" name="Text 16"/>
          <p:cNvSpPr/>
          <p:nvPr/>
        </p:nvSpPr>
        <p:spPr>
          <a:xfrm>
            <a:off x="1664208" y="5285232"/>
            <a:ext cx="8869680" cy="384048"/>
          </a:xfrm>
          <a:prstGeom prst="rect">
            <a:avLst/>
          </a:prstGeom>
          <a:noFill/>
          <a:ln/>
        </p:spPr>
        <p:txBody>
          <a:bodyPr wrap="square" lIns="0" tIns="0" rIns="0" bIns="0" rtlCol="0" anchor="ctr"/>
          <a:lstStyle/>
          <a:p>
            <a:pPr marL="0" indent="0" algn="ctr">
              <a:buNone/>
            </a:pPr>
            <a:r>
              <a:rPr lang="en-US" sz="1900" b="1" dirty="0">
                <a:solidFill>
                  <a:srgbClr val="1A1814"/>
                </a:solidFill>
                <a:latin typeface="Calibri" pitchFamily="34" charset="0"/>
                <a:ea typeface="Calibri" pitchFamily="34" charset="-122"/>
                <a:cs typeface="Calibri" pitchFamily="34" charset="-120"/>
              </a:rPr>
              <a:t>Guidance says: “Let me help you find where you fit.”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TRY BEFORE COMMITMENT</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The exploration window lowers the barrier</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08</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1097280" y="1463040"/>
            <a:ext cx="9966960" cy="347472"/>
          </a:xfrm>
          <a:prstGeom prst="rect">
            <a:avLst/>
          </a:prstGeom>
          <a:noFill/>
          <a:ln/>
        </p:spPr>
        <p:txBody>
          <a:bodyPr wrap="square" lIns="0" tIns="0" rIns="0" bIns="0" rtlCol="0" anchor="ctr"/>
          <a:lstStyle/>
          <a:p>
            <a:pPr marL="0" indent="0" algn="ctr">
              <a:buNone/>
            </a:pPr>
            <a:r>
              <a:rPr lang="en-US" sz="1800" b="1" dirty="0">
                <a:solidFill>
                  <a:srgbClr val="1A1814"/>
                </a:solidFill>
                <a:latin typeface="Calibri" pitchFamily="34" charset="0"/>
                <a:ea typeface="Calibri" pitchFamily="34" charset="-122"/>
                <a:cs typeface="Calibri" pitchFamily="34" charset="-120"/>
              </a:rPr>
              <a:t>Connect Groups should feel like discovery before obligation.</a:t>
            </a:r>
            <a:endParaRPr lang="en-US" sz="1800" dirty="0"/>
          </a:p>
        </p:txBody>
      </p:sp>
      <p:sp>
        <p:nvSpPr>
          <p:cNvPr id="9" name="Shape 7"/>
          <p:cNvSpPr/>
          <p:nvPr/>
        </p:nvSpPr>
        <p:spPr>
          <a:xfrm>
            <a:off x="914400" y="2240280"/>
            <a:ext cx="2148840" cy="1234440"/>
          </a:xfrm>
          <a:prstGeom prst="roundRect">
            <a:avLst>
              <a:gd name="adj" fmla="val 7407"/>
            </a:avLst>
          </a:prstGeom>
          <a:solidFill>
            <a:srgbClr val="FFFFFF"/>
          </a:solidFill>
          <a:ln w="13970">
            <a:solidFill>
              <a:srgbClr val="E4DCCF"/>
            </a:solidFill>
            <a:prstDash val="solid"/>
          </a:ln>
        </p:spPr>
        <p:txBody>
          <a:bodyPr/>
          <a:lstStyle/>
          <a:p>
            <a:endParaRPr lang="en-US"/>
          </a:p>
        </p:txBody>
      </p:sp>
      <p:sp>
        <p:nvSpPr>
          <p:cNvPr id="10" name="Text 8"/>
          <p:cNvSpPr/>
          <p:nvPr/>
        </p:nvSpPr>
        <p:spPr>
          <a:xfrm>
            <a:off x="1097280" y="2468880"/>
            <a:ext cx="1783080" cy="246888"/>
          </a:xfrm>
          <a:prstGeom prst="rect">
            <a:avLst/>
          </a:prstGeom>
          <a:noFill/>
          <a:ln/>
        </p:spPr>
        <p:txBody>
          <a:bodyPr wrap="square" lIns="0" tIns="0" rIns="0" bIns="0" rtlCol="0" anchor="ctr"/>
          <a:lstStyle/>
          <a:p>
            <a:pPr marL="0" indent="0" algn="ctr">
              <a:buNone/>
            </a:pPr>
            <a:r>
              <a:rPr lang="en-US" sz="1500" b="1" dirty="0">
                <a:solidFill>
                  <a:srgbClr val="1A1814"/>
                </a:solidFill>
                <a:latin typeface="Calibri" pitchFamily="34" charset="0"/>
                <a:ea typeface="Calibri" pitchFamily="34" charset="-122"/>
                <a:cs typeface="Calibri" pitchFamily="34" charset="-120"/>
              </a:rPr>
              <a:t>Visit</a:t>
            </a:r>
            <a:endParaRPr lang="en-US" sz="1500" dirty="0"/>
          </a:p>
        </p:txBody>
      </p:sp>
      <p:sp>
        <p:nvSpPr>
          <p:cNvPr id="11" name="Text 9"/>
          <p:cNvSpPr/>
          <p:nvPr/>
        </p:nvSpPr>
        <p:spPr>
          <a:xfrm>
            <a:off x="1115568" y="2852928"/>
            <a:ext cx="1746504" cy="310896"/>
          </a:xfrm>
          <a:prstGeom prst="rect">
            <a:avLst/>
          </a:prstGeom>
          <a:noFill/>
          <a:ln/>
        </p:spPr>
        <p:txBody>
          <a:bodyPr wrap="square" lIns="0" tIns="0" rIns="0" bIns="0" rtlCol="0" anchor="ctr">
            <a:normAutofit/>
          </a:bodyPr>
          <a:lstStyle/>
          <a:p>
            <a:pPr marL="0" indent="0" algn="ctr">
              <a:buNone/>
            </a:pPr>
            <a:r>
              <a:rPr lang="en-US" sz="950" dirty="0">
                <a:solidFill>
                  <a:srgbClr val="6F6861"/>
                </a:solidFill>
                <a:latin typeface="Calibri" pitchFamily="34" charset="0"/>
                <a:ea typeface="Calibri" pitchFamily="34" charset="-122"/>
                <a:cs typeface="Calibri" pitchFamily="34" charset="-120"/>
              </a:rPr>
              <a:t>Attend a group without pressure</a:t>
            </a:r>
            <a:endParaRPr lang="en-US" sz="950" dirty="0"/>
          </a:p>
        </p:txBody>
      </p:sp>
      <p:sp>
        <p:nvSpPr>
          <p:cNvPr id="12" name="Shape 10"/>
          <p:cNvSpPr/>
          <p:nvPr/>
        </p:nvSpPr>
        <p:spPr>
          <a:xfrm>
            <a:off x="3127248" y="2852928"/>
            <a:ext cx="420624" cy="0"/>
          </a:xfrm>
          <a:prstGeom prst="line">
            <a:avLst/>
          </a:prstGeom>
          <a:noFill/>
          <a:ln w="19050">
            <a:solidFill>
              <a:srgbClr val="C8A85E"/>
            </a:solidFill>
            <a:prstDash val="solid"/>
            <a:tailEnd type="triangle"/>
          </a:ln>
        </p:spPr>
        <p:txBody>
          <a:bodyPr/>
          <a:lstStyle/>
          <a:p>
            <a:endParaRPr lang="en-US"/>
          </a:p>
        </p:txBody>
      </p:sp>
      <p:sp>
        <p:nvSpPr>
          <p:cNvPr id="13" name="Shape 11"/>
          <p:cNvSpPr/>
          <p:nvPr/>
        </p:nvSpPr>
        <p:spPr>
          <a:xfrm>
            <a:off x="3703320" y="2240280"/>
            <a:ext cx="2148840" cy="1234440"/>
          </a:xfrm>
          <a:prstGeom prst="roundRect">
            <a:avLst>
              <a:gd name="adj" fmla="val 7407"/>
            </a:avLst>
          </a:prstGeom>
          <a:solidFill>
            <a:srgbClr val="FFFFFF"/>
          </a:solidFill>
          <a:ln w="13970">
            <a:solidFill>
              <a:srgbClr val="E4DCCF"/>
            </a:solidFill>
            <a:prstDash val="solid"/>
          </a:ln>
        </p:spPr>
        <p:txBody>
          <a:bodyPr/>
          <a:lstStyle/>
          <a:p>
            <a:endParaRPr lang="en-US"/>
          </a:p>
        </p:txBody>
      </p:sp>
      <p:sp>
        <p:nvSpPr>
          <p:cNvPr id="14" name="Text 12"/>
          <p:cNvSpPr/>
          <p:nvPr/>
        </p:nvSpPr>
        <p:spPr>
          <a:xfrm>
            <a:off x="3886200" y="2468880"/>
            <a:ext cx="1783080" cy="246888"/>
          </a:xfrm>
          <a:prstGeom prst="rect">
            <a:avLst/>
          </a:prstGeom>
          <a:noFill/>
          <a:ln/>
        </p:spPr>
        <p:txBody>
          <a:bodyPr wrap="square" lIns="0" tIns="0" rIns="0" bIns="0" rtlCol="0" anchor="ctr"/>
          <a:lstStyle/>
          <a:p>
            <a:pPr marL="0" indent="0" algn="ctr">
              <a:buNone/>
            </a:pPr>
            <a:r>
              <a:rPr lang="en-US" sz="1500" b="1" dirty="0">
                <a:solidFill>
                  <a:srgbClr val="1A1814"/>
                </a:solidFill>
                <a:latin typeface="Calibri" pitchFamily="34" charset="0"/>
                <a:ea typeface="Calibri" pitchFamily="34" charset="-122"/>
                <a:cs typeface="Calibri" pitchFamily="34" charset="-120"/>
              </a:rPr>
              <a:t>Reflect</a:t>
            </a:r>
            <a:endParaRPr lang="en-US" sz="1500" dirty="0"/>
          </a:p>
        </p:txBody>
      </p:sp>
      <p:sp>
        <p:nvSpPr>
          <p:cNvPr id="15" name="Text 13"/>
          <p:cNvSpPr/>
          <p:nvPr/>
        </p:nvSpPr>
        <p:spPr>
          <a:xfrm>
            <a:off x="3904488" y="2852928"/>
            <a:ext cx="1746504" cy="310896"/>
          </a:xfrm>
          <a:prstGeom prst="rect">
            <a:avLst/>
          </a:prstGeom>
          <a:noFill/>
          <a:ln/>
        </p:spPr>
        <p:txBody>
          <a:bodyPr wrap="square" lIns="0" tIns="0" rIns="0" bIns="0" rtlCol="0" anchor="ctr">
            <a:normAutofit/>
          </a:bodyPr>
          <a:lstStyle/>
          <a:p>
            <a:pPr marL="0" indent="0" algn="ctr">
              <a:buNone/>
            </a:pPr>
            <a:r>
              <a:rPr lang="en-US" sz="950" dirty="0">
                <a:solidFill>
                  <a:srgbClr val="6F6861"/>
                </a:solidFill>
                <a:latin typeface="Calibri" pitchFamily="34" charset="0"/>
                <a:ea typeface="Calibri" pitchFamily="34" charset="-122"/>
                <a:cs typeface="Calibri" pitchFamily="34" charset="-120"/>
              </a:rPr>
              <a:t>Ask if the group felt natural</a:t>
            </a:r>
            <a:endParaRPr lang="en-US" sz="950" dirty="0"/>
          </a:p>
        </p:txBody>
      </p:sp>
      <p:sp>
        <p:nvSpPr>
          <p:cNvPr id="16" name="Shape 14"/>
          <p:cNvSpPr/>
          <p:nvPr/>
        </p:nvSpPr>
        <p:spPr>
          <a:xfrm>
            <a:off x="5916168" y="2852928"/>
            <a:ext cx="420624" cy="0"/>
          </a:xfrm>
          <a:prstGeom prst="line">
            <a:avLst/>
          </a:prstGeom>
          <a:noFill/>
          <a:ln w="19050">
            <a:solidFill>
              <a:srgbClr val="C8A85E"/>
            </a:solidFill>
            <a:prstDash val="solid"/>
            <a:tailEnd type="triangle"/>
          </a:ln>
        </p:spPr>
        <p:txBody>
          <a:bodyPr/>
          <a:lstStyle/>
          <a:p>
            <a:endParaRPr lang="en-US"/>
          </a:p>
        </p:txBody>
      </p:sp>
      <p:sp>
        <p:nvSpPr>
          <p:cNvPr id="17" name="Shape 15"/>
          <p:cNvSpPr/>
          <p:nvPr/>
        </p:nvSpPr>
        <p:spPr>
          <a:xfrm>
            <a:off x="6492240" y="2240280"/>
            <a:ext cx="2148840" cy="1234440"/>
          </a:xfrm>
          <a:prstGeom prst="roundRect">
            <a:avLst>
              <a:gd name="adj" fmla="val 7407"/>
            </a:avLst>
          </a:prstGeom>
          <a:solidFill>
            <a:srgbClr val="FFFFFF"/>
          </a:solidFill>
          <a:ln w="13970">
            <a:solidFill>
              <a:srgbClr val="E4DCCF"/>
            </a:solidFill>
            <a:prstDash val="solid"/>
          </a:ln>
        </p:spPr>
        <p:txBody>
          <a:bodyPr/>
          <a:lstStyle/>
          <a:p>
            <a:endParaRPr lang="en-US"/>
          </a:p>
        </p:txBody>
      </p:sp>
      <p:sp>
        <p:nvSpPr>
          <p:cNvPr id="18" name="Text 16"/>
          <p:cNvSpPr/>
          <p:nvPr/>
        </p:nvSpPr>
        <p:spPr>
          <a:xfrm>
            <a:off x="6675120" y="2468880"/>
            <a:ext cx="1783080" cy="246888"/>
          </a:xfrm>
          <a:prstGeom prst="rect">
            <a:avLst/>
          </a:prstGeom>
          <a:noFill/>
          <a:ln/>
        </p:spPr>
        <p:txBody>
          <a:bodyPr wrap="square" lIns="0" tIns="0" rIns="0" bIns="0" rtlCol="0" anchor="ctr"/>
          <a:lstStyle/>
          <a:p>
            <a:pPr marL="0" indent="0" algn="ctr">
              <a:buNone/>
            </a:pPr>
            <a:r>
              <a:rPr lang="en-US" sz="1500" b="1" dirty="0">
                <a:solidFill>
                  <a:srgbClr val="1A1814"/>
                </a:solidFill>
                <a:latin typeface="Calibri" pitchFamily="34" charset="0"/>
                <a:ea typeface="Calibri" pitchFamily="34" charset="-122"/>
                <a:cs typeface="Calibri" pitchFamily="34" charset="-120"/>
              </a:rPr>
              <a:t>Adjust</a:t>
            </a:r>
            <a:endParaRPr lang="en-US" sz="1500" dirty="0"/>
          </a:p>
        </p:txBody>
      </p:sp>
      <p:sp>
        <p:nvSpPr>
          <p:cNvPr id="19" name="Text 17"/>
          <p:cNvSpPr/>
          <p:nvPr/>
        </p:nvSpPr>
        <p:spPr>
          <a:xfrm>
            <a:off x="6693408" y="2852928"/>
            <a:ext cx="1746504" cy="310896"/>
          </a:xfrm>
          <a:prstGeom prst="rect">
            <a:avLst/>
          </a:prstGeom>
          <a:noFill/>
          <a:ln/>
        </p:spPr>
        <p:txBody>
          <a:bodyPr wrap="square" lIns="0" tIns="0" rIns="0" bIns="0" rtlCol="0" anchor="ctr">
            <a:normAutofit/>
          </a:bodyPr>
          <a:lstStyle/>
          <a:p>
            <a:pPr marL="0" indent="0" algn="ctr">
              <a:buNone/>
            </a:pPr>
            <a:r>
              <a:rPr lang="en-US" sz="950" dirty="0">
                <a:solidFill>
                  <a:srgbClr val="6F6861"/>
                </a:solidFill>
                <a:latin typeface="Calibri" pitchFamily="34" charset="0"/>
                <a:ea typeface="Calibri" pitchFamily="34" charset="-122"/>
                <a:cs typeface="Calibri" pitchFamily="34" charset="-120"/>
              </a:rPr>
              <a:t>Try another group if needed</a:t>
            </a:r>
            <a:endParaRPr lang="en-US" sz="950" dirty="0"/>
          </a:p>
        </p:txBody>
      </p:sp>
      <p:sp>
        <p:nvSpPr>
          <p:cNvPr id="20" name="Shape 18"/>
          <p:cNvSpPr/>
          <p:nvPr/>
        </p:nvSpPr>
        <p:spPr>
          <a:xfrm>
            <a:off x="8705088" y="2852928"/>
            <a:ext cx="420624" cy="0"/>
          </a:xfrm>
          <a:prstGeom prst="line">
            <a:avLst/>
          </a:prstGeom>
          <a:noFill/>
          <a:ln w="19050">
            <a:solidFill>
              <a:srgbClr val="C8A85E"/>
            </a:solidFill>
            <a:prstDash val="solid"/>
            <a:tailEnd type="triangle"/>
          </a:ln>
        </p:spPr>
        <p:txBody>
          <a:bodyPr/>
          <a:lstStyle/>
          <a:p>
            <a:endParaRPr lang="en-US"/>
          </a:p>
        </p:txBody>
      </p:sp>
      <p:sp>
        <p:nvSpPr>
          <p:cNvPr id="21" name="Shape 19"/>
          <p:cNvSpPr/>
          <p:nvPr/>
        </p:nvSpPr>
        <p:spPr>
          <a:xfrm>
            <a:off x="9281160" y="2240280"/>
            <a:ext cx="2148840" cy="1234440"/>
          </a:xfrm>
          <a:prstGeom prst="roundRect">
            <a:avLst>
              <a:gd name="adj" fmla="val 7407"/>
            </a:avLst>
          </a:prstGeom>
          <a:solidFill>
            <a:srgbClr val="F2FBF8"/>
          </a:solidFill>
          <a:ln w="13970">
            <a:solidFill>
              <a:srgbClr val="1B7B63"/>
            </a:solidFill>
            <a:prstDash val="solid"/>
          </a:ln>
        </p:spPr>
        <p:txBody>
          <a:bodyPr/>
          <a:lstStyle/>
          <a:p>
            <a:endParaRPr lang="en-US"/>
          </a:p>
        </p:txBody>
      </p:sp>
      <p:sp>
        <p:nvSpPr>
          <p:cNvPr id="22" name="Text 20"/>
          <p:cNvSpPr/>
          <p:nvPr/>
        </p:nvSpPr>
        <p:spPr>
          <a:xfrm>
            <a:off x="9464040" y="2468880"/>
            <a:ext cx="1783080" cy="246888"/>
          </a:xfrm>
          <a:prstGeom prst="rect">
            <a:avLst/>
          </a:prstGeom>
          <a:noFill/>
          <a:ln/>
        </p:spPr>
        <p:txBody>
          <a:bodyPr wrap="square" lIns="0" tIns="0" rIns="0" bIns="0" rtlCol="0" anchor="ctr"/>
          <a:lstStyle/>
          <a:p>
            <a:pPr marL="0" indent="0" algn="ctr">
              <a:buNone/>
            </a:pPr>
            <a:r>
              <a:rPr lang="en-US" sz="1500" b="1" dirty="0">
                <a:solidFill>
                  <a:srgbClr val="1B7B63"/>
                </a:solidFill>
                <a:latin typeface="Calibri" pitchFamily="34" charset="0"/>
                <a:ea typeface="Calibri" pitchFamily="34" charset="-122"/>
                <a:cs typeface="Calibri" pitchFamily="34" charset="-120"/>
              </a:rPr>
              <a:t>Commit</a:t>
            </a:r>
            <a:endParaRPr lang="en-US" sz="1500" dirty="0"/>
          </a:p>
        </p:txBody>
      </p:sp>
      <p:sp>
        <p:nvSpPr>
          <p:cNvPr id="23" name="Text 21"/>
          <p:cNvSpPr/>
          <p:nvPr/>
        </p:nvSpPr>
        <p:spPr>
          <a:xfrm>
            <a:off x="9482328" y="2852928"/>
            <a:ext cx="1746504" cy="310896"/>
          </a:xfrm>
          <a:prstGeom prst="rect">
            <a:avLst/>
          </a:prstGeom>
          <a:noFill/>
          <a:ln/>
        </p:spPr>
        <p:txBody>
          <a:bodyPr wrap="square" lIns="0" tIns="0" rIns="0" bIns="0" rtlCol="0" anchor="ctr">
            <a:normAutofit/>
          </a:bodyPr>
          <a:lstStyle/>
          <a:p>
            <a:pPr marL="0" indent="0" algn="ctr">
              <a:buNone/>
            </a:pPr>
            <a:r>
              <a:rPr lang="en-US" sz="950" dirty="0">
                <a:solidFill>
                  <a:srgbClr val="6F6861"/>
                </a:solidFill>
                <a:latin typeface="Calibri" pitchFamily="34" charset="0"/>
                <a:ea typeface="Calibri" pitchFamily="34" charset="-122"/>
                <a:cs typeface="Calibri" pitchFamily="34" charset="-120"/>
              </a:rPr>
              <a:t>Stay once there is real alignment</a:t>
            </a:r>
            <a:endParaRPr lang="en-US" sz="950" dirty="0"/>
          </a:p>
        </p:txBody>
      </p:sp>
      <p:sp>
        <p:nvSpPr>
          <p:cNvPr id="24" name="Shape 22"/>
          <p:cNvSpPr/>
          <p:nvPr/>
        </p:nvSpPr>
        <p:spPr>
          <a:xfrm>
            <a:off x="1097280" y="4343400"/>
            <a:ext cx="10012680" cy="1005840"/>
          </a:xfrm>
          <a:prstGeom prst="roundRect">
            <a:avLst>
              <a:gd name="adj" fmla="val 8182"/>
            </a:avLst>
          </a:prstGeom>
          <a:solidFill>
            <a:srgbClr val="FFFFFF"/>
          </a:solidFill>
          <a:ln w="12700">
            <a:solidFill>
              <a:srgbClr val="E4DCCF"/>
            </a:solidFill>
            <a:prstDash val="solid"/>
          </a:ln>
        </p:spPr>
        <p:txBody>
          <a:bodyPr/>
          <a:lstStyle/>
          <a:p>
            <a:endParaRPr lang="en-US"/>
          </a:p>
        </p:txBody>
      </p:sp>
      <p:sp>
        <p:nvSpPr>
          <p:cNvPr id="25" name="Text 23"/>
          <p:cNvSpPr/>
          <p:nvPr/>
        </p:nvSpPr>
        <p:spPr>
          <a:xfrm>
            <a:off x="1280160" y="4389120"/>
            <a:ext cx="411480" cy="457200"/>
          </a:xfrm>
          <a:prstGeom prst="rect">
            <a:avLst/>
          </a:prstGeom>
          <a:noFill/>
          <a:ln/>
        </p:spPr>
        <p:txBody>
          <a:bodyPr wrap="square" lIns="0" tIns="0" rIns="0" bIns="0" rtlCol="0" anchor="ctr"/>
          <a:lstStyle/>
          <a:p>
            <a:pPr marL="0" indent="0">
              <a:buNone/>
            </a:pPr>
            <a:r>
              <a:rPr lang="en-US" sz="3800" b="1" dirty="0">
                <a:solidFill>
                  <a:srgbClr val="C8A85E"/>
                </a:solidFill>
                <a:latin typeface="Georgia" pitchFamily="34" charset="0"/>
                <a:ea typeface="Georgia" pitchFamily="34" charset="-122"/>
                <a:cs typeface="Georgia" pitchFamily="34" charset="-120"/>
              </a:rPr>
              <a:t>“</a:t>
            </a:r>
            <a:endParaRPr lang="en-US" sz="3800" dirty="0"/>
          </a:p>
        </p:txBody>
      </p:sp>
      <p:sp>
        <p:nvSpPr>
          <p:cNvPr id="26" name="Text 24"/>
          <p:cNvSpPr/>
          <p:nvPr/>
        </p:nvSpPr>
        <p:spPr>
          <a:xfrm>
            <a:off x="1764792" y="4562856"/>
            <a:ext cx="9098280" cy="621792"/>
          </a:xfrm>
          <a:prstGeom prst="rect">
            <a:avLst/>
          </a:prstGeom>
          <a:noFill/>
          <a:ln/>
        </p:spPr>
        <p:txBody>
          <a:bodyPr wrap="square" lIns="254" tIns="254" rIns="254" bIns="254" rtlCol="0" anchor="ctr">
            <a:normAutofit/>
          </a:bodyPr>
          <a:lstStyle/>
          <a:p>
            <a:pPr marL="0" indent="0">
              <a:buNone/>
            </a:pPr>
            <a:r>
              <a:rPr lang="en-US" sz="2100" b="1" dirty="0">
                <a:solidFill>
                  <a:srgbClr val="1A1814"/>
                </a:solidFill>
                <a:latin typeface="Calibri" pitchFamily="34" charset="0"/>
                <a:ea typeface="Calibri" pitchFamily="34" charset="-122"/>
                <a:cs typeface="Calibri" pitchFamily="34" charset="-120"/>
              </a:rPr>
              <a:t>Strong commitment becomes more likely when people feel they had room to find alignment.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HOW THE SYSTEM WORKS</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The Bridge Pipeline</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09</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621792" y="18288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9" name="Text 7"/>
          <p:cNvSpPr/>
          <p:nvPr/>
        </p:nvSpPr>
        <p:spPr>
          <a:xfrm>
            <a:off x="731520" y="19659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Attend</a:t>
            </a:r>
            <a:endParaRPr lang="en-US" sz="1230" dirty="0"/>
          </a:p>
        </p:txBody>
      </p:sp>
      <p:sp>
        <p:nvSpPr>
          <p:cNvPr id="10" name="Text 8"/>
          <p:cNvSpPr/>
          <p:nvPr/>
        </p:nvSpPr>
        <p:spPr>
          <a:xfrm>
            <a:off x="740664" y="22677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OUTLET event</a:t>
            </a:r>
            <a:endParaRPr lang="en-US" sz="830" dirty="0"/>
          </a:p>
        </p:txBody>
      </p:sp>
      <p:sp>
        <p:nvSpPr>
          <p:cNvPr id="11" name="Shape 9"/>
          <p:cNvSpPr/>
          <p:nvPr/>
        </p:nvSpPr>
        <p:spPr>
          <a:xfrm>
            <a:off x="2322576" y="2221992"/>
            <a:ext cx="329184" cy="0"/>
          </a:xfrm>
          <a:prstGeom prst="line">
            <a:avLst/>
          </a:prstGeom>
          <a:noFill/>
          <a:ln w="19050">
            <a:solidFill>
              <a:srgbClr val="C8A85E"/>
            </a:solidFill>
            <a:prstDash val="solid"/>
            <a:headEnd type="none"/>
            <a:tailEnd type="triangle"/>
          </a:ln>
        </p:spPr>
        <p:txBody>
          <a:bodyPr/>
          <a:lstStyle/>
          <a:p>
            <a:endParaRPr lang="en-US"/>
          </a:p>
        </p:txBody>
      </p:sp>
      <p:sp>
        <p:nvSpPr>
          <p:cNvPr id="12" name="Shape 10"/>
          <p:cNvSpPr/>
          <p:nvPr/>
        </p:nvSpPr>
        <p:spPr>
          <a:xfrm>
            <a:off x="2706624" y="18288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13" name="Text 11"/>
          <p:cNvSpPr/>
          <p:nvPr/>
        </p:nvSpPr>
        <p:spPr>
          <a:xfrm>
            <a:off x="2816352" y="19659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Recognize</a:t>
            </a:r>
            <a:endParaRPr lang="en-US" sz="1230" dirty="0"/>
          </a:p>
        </p:txBody>
      </p:sp>
      <p:sp>
        <p:nvSpPr>
          <p:cNvPr id="14" name="Text 12"/>
          <p:cNvSpPr/>
          <p:nvPr/>
        </p:nvSpPr>
        <p:spPr>
          <a:xfrm>
            <a:off x="2825496" y="22677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Recurring attendee</a:t>
            </a:r>
            <a:endParaRPr lang="en-US" sz="830" dirty="0"/>
          </a:p>
        </p:txBody>
      </p:sp>
      <p:sp>
        <p:nvSpPr>
          <p:cNvPr id="15" name="Shape 13"/>
          <p:cNvSpPr/>
          <p:nvPr/>
        </p:nvSpPr>
        <p:spPr>
          <a:xfrm>
            <a:off x="4407408" y="2221992"/>
            <a:ext cx="329184" cy="0"/>
          </a:xfrm>
          <a:prstGeom prst="line">
            <a:avLst/>
          </a:prstGeom>
          <a:noFill/>
          <a:ln w="19050">
            <a:solidFill>
              <a:srgbClr val="C8A85E"/>
            </a:solidFill>
            <a:prstDash val="solid"/>
            <a:headEnd type="none"/>
            <a:tailEnd type="triangle"/>
          </a:ln>
        </p:spPr>
        <p:txBody>
          <a:bodyPr/>
          <a:lstStyle/>
          <a:p>
            <a:endParaRPr lang="en-US"/>
          </a:p>
        </p:txBody>
      </p:sp>
      <p:sp>
        <p:nvSpPr>
          <p:cNvPr id="16" name="Shape 14"/>
          <p:cNvSpPr/>
          <p:nvPr/>
        </p:nvSpPr>
        <p:spPr>
          <a:xfrm>
            <a:off x="4791456" y="18288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17" name="Text 15"/>
          <p:cNvSpPr/>
          <p:nvPr/>
        </p:nvSpPr>
        <p:spPr>
          <a:xfrm>
            <a:off x="4901184" y="19659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Discover</a:t>
            </a:r>
            <a:endParaRPr lang="en-US" sz="1230" dirty="0"/>
          </a:p>
        </p:txBody>
      </p:sp>
      <p:sp>
        <p:nvSpPr>
          <p:cNvPr id="18" name="Text 16"/>
          <p:cNvSpPr/>
          <p:nvPr/>
        </p:nvSpPr>
        <p:spPr>
          <a:xfrm>
            <a:off x="4910328" y="22677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Interests + comfort</a:t>
            </a:r>
            <a:endParaRPr lang="en-US" sz="830" dirty="0"/>
          </a:p>
        </p:txBody>
      </p:sp>
      <p:sp>
        <p:nvSpPr>
          <p:cNvPr id="19" name="Shape 17"/>
          <p:cNvSpPr/>
          <p:nvPr/>
        </p:nvSpPr>
        <p:spPr>
          <a:xfrm>
            <a:off x="6492240" y="2221992"/>
            <a:ext cx="329184" cy="0"/>
          </a:xfrm>
          <a:prstGeom prst="line">
            <a:avLst/>
          </a:prstGeom>
          <a:noFill/>
          <a:ln w="19050">
            <a:solidFill>
              <a:srgbClr val="C8A85E"/>
            </a:solidFill>
            <a:prstDash val="solid"/>
            <a:headEnd type="none"/>
            <a:tailEnd type="triangle"/>
          </a:ln>
        </p:spPr>
        <p:txBody>
          <a:bodyPr/>
          <a:lstStyle/>
          <a:p>
            <a:endParaRPr lang="en-US"/>
          </a:p>
        </p:txBody>
      </p:sp>
      <p:sp>
        <p:nvSpPr>
          <p:cNvPr id="20" name="Shape 18"/>
          <p:cNvSpPr/>
          <p:nvPr/>
        </p:nvSpPr>
        <p:spPr>
          <a:xfrm>
            <a:off x="6876288" y="18288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21" name="Text 19"/>
          <p:cNvSpPr/>
          <p:nvPr/>
        </p:nvSpPr>
        <p:spPr>
          <a:xfrm>
            <a:off x="6986016" y="19659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Recommend</a:t>
            </a:r>
            <a:endParaRPr lang="en-US" sz="1230" dirty="0"/>
          </a:p>
        </p:txBody>
      </p:sp>
      <p:sp>
        <p:nvSpPr>
          <p:cNvPr id="22" name="Text 20"/>
          <p:cNvSpPr/>
          <p:nvPr/>
        </p:nvSpPr>
        <p:spPr>
          <a:xfrm>
            <a:off x="6995160" y="22677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Best-fit group</a:t>
            </a:r>
            <a:endParaRPr lang="en-US" sz="830" dirty="0"/>
          </a:p>
        </p:txBody>
      </p:sp>
      <p:sp>
        <p:nvSpPr>
          <p:cNvPr id="23" name="Shape 21"/>
          <p:cNvSpPr/>
          <p:nvPr/>
        </p:nvSpPr>
        <p:spPr>
          <a:xfrm>
            <a:off x="8577072" y="2221992"/>
            <a:ext cx="329184" cy="0"/>
          </a:xfrm>
          <a:prstGeom prst="line">
            <a:avLst/>
          </a:prstGeom>
          <a:noFill/>
          <a:ln w="19050">
            <a:solidFill>
              <a:srgbClr val="C8A85E"/>
            </a:solidFill>
            <a:prstDash val="solid"/>
            <a:headEnd type="none"/>
            <a:tailEnd type="triangle"/>
          </a:ln>
        </p:spPr>
        <p:txBody>
          <a:bodyPr/>
          <a:lstStyle/>
          <a:p>
            <a:endParaRPr lang="en-US"/>
          </a:p>
        </p:txBody>
      </p:sp>
      <p:sp>
        <p:nvSpPr>
          <p:cNvPr id="24" name="Shape 22"/>
          <p:cNvSpPr/>
          <p:nvPr/>
        </p:nvSpPr>
        <p:spPr>
          <a:xfrm>
            <a:off x="8961120" y="18288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25" name="Text 23"/>
          <p:cNvSpPr/>
          <p:nvPr/>
        </p:nvSpPr>
        <p:spPr>
          <a:xfrm>
            <a:off x="9070848" y="19659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Introduce</a:t>
            </a:r>
            <a:endParaRPr lang="en-US" sz="1230" dirty="0"/>
          </a:p>
        </p:txBody>
      </p:sp>
      <p:sp>
        <p:nvSpPr>
          <p:cNvPr id="26" name="Text 24"/>
          <p:cNvSpPr/>
          <p:nvPr/>
        </p:nvSpPr>
        <p:spPr>
          <a:xfrm>
            <a:off x="9079992" y="22677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Warm handoff</a:t>
            </a:r>
            <a:endParaRPr lang="en-US" sz="830" dirty="0"/>
          </a:p>
        </p:txBody>
      </p:sp>
      <p:sp>
        <p:nvSpPr>
          <p:cNvPr id="27" name="Shape 25"/>
          <p:cNvSpPr/>
          <p:nvPr/>
        </p:nvSpPr>
        <p:spPr>
          <a:xfrm>
            <a:off x="10469880" y="2624328"/>
            <a:ext cx="0" cy="1051560"/>
          </a:xfrm>
          <a:prstGeom prst="line">
            <a:avLst/>
          </a:prstGeom>
          <a:noFill/>
          <a:ln w="19050">
            <a:solidFill>
              <a:srgbClr val="C8A85E"/>
            </a:solidFill>
            <a:prstDash val="solid"/>
            <a:tailEnd type="triangle"/>
          </a:ln>
        </p:spPr>
        <p:txBody>
          <a:bodyPr/>
          <a:lstStyle/>
          <a:p>
            <a:endParaRPr lang="en-US"/>
          </a:p>
        </p:txBody>
      </p:sp>
      <p:sp>
        <p:nvSpPr>
          <p:cNvPr id="28" name="Shape 26"/>
          <p:cNvSpPr/>
          <p:nvPr/>
        </p:nvSpPr>
        <p:spPr>
          <a:xfrm>
            <a:off x="9738360" y="36576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29" name="Text 27"/>
          <p:cNvSpPr/>
          <p:nvPr/>
        </p:nvSpPr>
        <p:spPr>
          <a:xfrm>
            <a:off x="9848088" y="37947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Trial</a:t>
            </a:r>
            <a:endParaRPr lang="en-US" sz="1230" dirty="0"/>
          </a:p>
        </p:txBody>
      </p:sp>
      <p:sp>
        <p:nvSpPr>
          <p:cNvPr id="30" name="Text 28"/>
          <p:cNvSpPr/>
          <p:nvPr/>
        </p:nvSpPr>
        <p:spPr>
          <a:xfrm>
            <a:off x="9857232" y="40965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Visit group</a:t>
            </a:r>
            <a:endParaRPr lang="en-US" sz="830" dirty="0"/>
          </a:p>
        </p:txBody>
      </p:sp>
      <p:sp>
        <p:nvSpPr>
          <p:cNvPr id="31" name="Shape 29"/>
          <p:cNvSpPr/>
          <p:nvPr/>
        </p:nvSpPr>
        <p:spPr>
          <a:xfrm>
            <a:off x="9336024" y="4050792"/>
            <a:ext cx="329184" cy="0"/>
          </a:xfrm>
          <a:prstGeom prst="line">
            <a:avLst/>
          </a:prstGeom>
          <a:noFill/>
          <a:ln w="19050">
            <a:solidFill>
              <a:srgbClr val="C8A85E"/>
            </a:solidFill>
            <a:prstDash val="solid"/>
            <a:headEnd type="triangle"/>
            <a:tailEnd type="none"/>
          </a:ln>
        </p:spPr>
        <p:txBody>
          <a:bodyPr/>
          <a:lstStyle/>
          <a:p>
            <a:endParaRPr lang="en-US"/>
          </a:p>
        </p:txBody>
      </p:sp>
      <p:sp>
        <p:nvSpPr>
          <p:cNvPr id="32" name="Shape 30"/>
          <p:cNvSpPr/>
          <p:nvPr/>
        </p:nvSpPr>
        <p:spPr>
          <a:xfrm>
            <a:off x="7653528" y="36576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33" name="Text 31"/>
          <p:cNvSpPr/>
          <p:nvPr/>
        </p:nvSpPr>
        <p:spPr>
          <a:xfrm>
            <a:off x="7763256" y="37947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Follow up</a:t>
            </a:r>
            <a:endParaRPr lang="en-US" sz="1230" dirty="0"/>
          </a:p>
        </p:txBody>
      </p:sp>
      <p:sp>
        <p:nvSpPr>
          <p:cNvPr id="34" name="Text 32"/>
          <p:cNvSpPr/>
          <p:nvPr/>
        </p:nvSpPr>
        <p:spPr>
          <a:xfrm>
            <a:off x="7772400" y="40965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How did it feel?</a:t>
            </a:r>
            <a:endParaRPr lang="en-US" sz="830" dirty="0"/>
          </a:p>
        </p:txBody>
      </p:sp>
      <p:sp>
        <p:nvSpPr>
          <p:cNvPr id="35" name="Shape 33"/>
          <p:cNvSpPr/>
          <p:nvPr/>
        </p:nvSpPr>
        <p:spPr>
          <a:xfrm>
            <a:off x="7251192" y="4050792"/>
            <a:ext cx="329184" cy="0"/>
          </a:xfrm>
          <a:prstGeom prst="line">
            <a:avLst/>
          </a:prstGeom>
          <a:noFill/>
          <a:ln w="19050">
            <a:solidFill>
              <a:srgbClr val="C8A85E"/>
            </a:solidFill>
            <a:prstDash val="solid"/>
            <a:headEnd type="triangle"/>
            <a:tailEnd type="none"/>
          </a:ln>
        </p:spPr>
        <p:txBody>
          <a:bodyPr/>
          <a:lstStyle/>
          <a:p>
            <a:endParaRPr lang="en-US"/>
          </a:p>
        </p:txBody>
      </p:sp>
      <p:sp>
        <p:nvSpPr>
          <p:cNvPr id="36" name="Shape 34"/>
          <p:cNvSpPr/>
          <p:nvPr/>
        </p:nvSpPr>
        <p:spPr>
          <a:xfrm>
            <a:off x="5568696" y="36576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37" name="Text 35"/>
          <p:cNvSpPr/>
          <p:nvPr/>
        </p:nvSpPr>
        <p:spPr>
          <a:xfrm>
            <a:off x="5678424" y="37947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Align</a:t>
            </a:r>
            <a:endParaRPr lang="en-US" sz="1230" dirty="0"/>
          </a:p>
        </p:txBody>
      </p:sp>
      <p:sp>
        <p:nvSpPr>
          <p:cNvPr id="38" name="Text 36"/>
          <p:cNvSpPr/>
          <p:nvPr/>
        </p:nvSpPr>
        <p:spPr>
          <a:xfrm>
            <a:off x="5687568" y="40965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Stay or redirect</a:t>
            </a:r>
            <a:endParaRPr lang="en-US" sz="830" dirty="0"/>
          </a:p>
        </p:txBody>
      </p:sp>
      <p:sp>
        <p:nvSpPr>
          <p:cNvPr id="39" name="Shape 37"/>
          <p:cNvSpPr/>
          <p:nvPr/>
        </p:nvSpPr>
        <p:spPr>
          <a:xfrm>
            <a:off x="5166360" y="4050792"/>
            <a:ext cx="329184" cy="0"/>
          </a:xfrm>
          <a:prstGeom prst="line">
            <a:avLst/>
          </a:prstGeom>
          <a:noFill/>
          <a:ln w="19050">
            <a:solidFill>
              <a:srgbClr val="C8A85E"/>
            </a:solidFill>
            <a:prstDash val="solid"/>
            <a:headEnd type="triangle"/>
            <a:tailEnd type="none"/>
          </a:ln>
        </p:spPr>
        <p:txBody>
          <a:bodyPr/>
          <a:lstStyle/>
          <a:p>
            <a:endParaRPr lang="en-US"/>
          </a:p>
        </p:txBody>
      </p:sp>
      <p:sp>
        <p:nvSpPr>
          <p:cNvPr id="40" name="Shape 38"/>
          <p:cNvSpPr/>
          <p:nvPr/>
        </p:nvSpPr>
        <p:spPr>
          <a:xfrm>
            <a:off x="3483864" y="36576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41" name="Text 39"/>
          <p:cNvSpPr/>
          <p:nvPr/>
        </p:nvSpPr>
        <p:spPr>
          <a:xfrm>
            <a:off x="3593592" y="37947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Retain</a:t>
            </a:r>
            <a:endParaRPr lang="en-US" sz="1230" dirty="0"/>
          </a:p>
        </p:txBody>
      </p:sp>
      <p:sp>
        <p:nvSpPr>
          <p:cNvPr id="42" name="Text 40"/>
          <p:cNvSpPr/>
          <p:nvPr/>
        </p:nvSpPr>
        <p:spPr>
          <a:xfrm>
            <a:off x="3602736" y="40965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Ongoing connection</a:t>
            </a:r>
            <a:endParaRPr lang="en-US" sz="830" dirty="0"/>
          </a:p>
        </p:txBody>
      </p:sp>
      <p:sp>
        <p:nvSpPr>
          <p:cNvPr id="43" name="Shape 41"/>
          <p:cNvSpPr/>
          <p:nvPr/>
        </p:nvSpPr>
        <p:spPr>
          <a:xfrm>
            <a:off x="3081528" y="4050792"/>
            <a:ext cx="329184" cy="0"/>
          </a:xfrm>
          <a:prstGeom prst="line">
            <a:avLst/>
          </a:prstGeom>
          <a:noFill/>
          <a:ln w="19050">
            <a:solidFill>
              <a:srgbClr val="C8A85E"/>
            </a:solidFill>
            <a:prstDash val="solid"/>
            <a:headEnd type="triangle"/>
            <a:tailEnd type="none"/>
          </a:ln>
        </p:spPr>
        <p:txBody>
          <a:bodyPr/>
          <a:lstStyle/>
          <a:p>
            <a:endParaRPr lang="en-US"/>
          </a:p>
        </p:txBody>
      </p:sp>
      <p:sp>
        <p:nvSpPr>
          <p:cNvPr id="44" name="Shape 42"/>
          <p:cNvSpPr/>
          <p:nvPr/>
        </p:nvSpPr>
        <p:spPr>
          <a:xfrm>
            <a:off x="1399032" y="3657600"/>
            <a:ext cx="1664208" cy="786384"/>
          </a:xfrm>
          <a:prstGeom prst="roundRect">
            <a:avLst>
              <a:gd name="adj" fmla="val 9302"/>
            </a:avLst>
          </a:prstGeom>
          <a:solidFill>
            <a:srgbClr val="FFFFFF"/>
          </a:solidFill>
          <a:ln w="12700">
            <a:solidFill>
              <a:srgbClr val="DFD7CB"/>
            </a:solidFill>
            <a:prstDash val="solid"/>
          </a:ln>
        </p:spPr>
        <p:txBody>
          <a:bodyPr/>
          <a:lstStyle/>
          <a:p>
            <a:endParaRPr lang="en-US"/>
          </a:p>
        </p:txBody>
      </p:sp>
      <p:sp>
        <p:nvSpPr>
          <p:cNvPr id="45" name="Text 43"/>
          <p:cNvSpPr/>
          <p:nvPr/>
        </p:nvSpPr>
        <p:spPr>
          <a:xfrm>
            <a:off x="1508760" y="3794760"/>
            <a:ext cx="1444752" cy="182880"/>
          </a:xfrm>
          <a:prstGeom prst="rect">
            <a:avLst/>
          </a:prstGeom>
          <a:noFill/>
          <a:ln/>
        </p:spPr>
        <p:txBody>
          <a:bodyPr wrap="square" lIns="0" tIns="0" rIns="0" bIns="0" rtlCol="0" anchor="ctr"/>
          <a:lstStyle/>
          <a:p>
            <a:pPr marL="0" indent="0" algn="ctr">
              <a:buNone/>
            </a:pPr>
            <a:r>
              <a:rPr lang="en-US" sz="1230" b="1" dirty="0">
                <a:solidFill>
                  <a:srgbClr val="1A1814"/>
                </a:solidFill>
                <a:latin typeface="Calibri" pitchFamily="34" charset="0"/>
                <a:ea typeface="Calibri" pitchFamily="34" charset="-122"/>
                <a:cs typeface="Calibri" pitchFamily="34" charset="-120"/>
              </a:rPr>
              <a:t>Develop</a:t>
            </a:r>
            <a:endParaRPr lang="en-US" sz="1230" dirty="0"/>
          </a:p>
        </p:txBody>
      </p:sp>
      <p:sp>
        <p:nvSpPr>
          <p:cNvPr id="46" name="Text 44"/>
          <p:cNvSpPr/>
          <p:nvPr/>
        </p:nvSpPr>
        <p:spPr>
          <a:xfrm>
            <a:off x="1517904" y="4096512"/>
            <a:ext cx="1426464" cy="164592"/>
          </a:xfrm>
          <a:prstGeom prst="rect">
            <a:avLst/>
          </a:prstGeom>
          <a:noFill/>
          <a:ln/>
        </p:spPr>
        <p:txBody>
          <a:bodyPr wrap="square" lIns="0" tIns="0" rIns="0" bIns="0" rtlCol="0" anchor="ctr">
            <a:normAutofit/>
          </a:bodyPr>
          <a:lstStyle/>
          <a:p>
            <a:pPr marL="0" indent="0" algn="ctr">
              <a:buNone/>
            </a:pPr>
            <a:r>
              <a:rPr lang="en-US" sz="830" dirty="0">
                <a:solidFill>
                  <a:srgbClr val="6F6861"/>
                </a:solidFill>
                <a:latin typeface="Calibri" pitchFamily="34" charset="0"/>
                <a:ea typeface="Calibri" pitchFamily="34" charset="-122"/>
                <a:cs typeface="Calibri" pitchFamily="34" charset="-120"/>
              </a:rPr>
              <a:t>Future leadership</a:t>
            </a:r>
            <a:endParaRPr lang="en-US" sz="830" dirty="0"/>
          </a:p>
        </p:txBody>
      </p:sp>
      <p:sp>
        <p:nvSpPr>
          <p:cNvPr id="47" name="Shape 45"/>
          <p:cNvSpPr/>
          <p:nvPr/>
        </p:nvSpPr>
        <p:spPr>
          <a:xfrm>
            <a:off x="1353312" y="5074920"/>
            <a:ext cx="9528048" cy="786384"/>
          </a:xfrm>
          <a:prstGeom prst="roundRect">
            <a:avLst>
              <a:gd name="adj" fmla="val 9302"/>
            </a:avLst>
          </a:prstGeom>
          <a:solidFill>
            <a:srgbClr val="FFFFFF"/>
          </a:solidFill>
          <a:ln w="11430">
            <a:solidFill>
              <a:srgbClr val="E6DFD2"/>
            </a:solidFill>
            <a:prstDash val="solid"/>
          </a:ln>
        </p:spPr>
        <p:txBody>
          <a:bodyPr/>
          <a:lstStyle/>
          <a:p>
            <a:endParaRPr lang="en-US"/>
          </a:p>
        </p:txBody>
      </p:sp>
      <p:sp>
        <p:nvSpPr>
          <p:cNvPr id="48" name="Shape 46"/>
          <p:cNvSpPr/>
          <p:nvPr/>
        </p:nvSpPr>
        <p:spPr>
          <a:xfrm>
            <a:off x="1353312" y="5074920"/>
            <a:ext cx="73152" cy="786384"/>
          </a:xfrm>
          <a:prstGeom prst="rect">
            <a:avLst/>
          </a:prstGeom>
          <a:solidFill>
            <a:srgbClr val="1B7B63"/>
          </a:solidFill>
          <a:ln w="12700">
            <a:solidFill>
              <a:srgbClr val="1B7B63"/>
            </a:solidFill>
            <a:prstDash val="solid"/>
          </a:ln>
        </p:spPr>
        <p:txBody>
          <a:bodyPr/>
          <a:lstStyle/>
          <a:p>
            <a:endParaRPr lang="en-US"/>
          </a:p>
        </p:txBody>
      </p:sp>
      <p:sp>
        <p:nvSpPr>
          <p:cNvPr id="49" name="Text 47"/>
          <p:cNvSpPr/>
          <p:nvPr/>
        </p:nvSpPr>
        <p:spPr>
          <a:xfrm>
            <a:off x="1581912" y="5230368"/>
            <a:ext cx="914400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Critical difference</a:t>
            </a:r>
            <a:endParaRPr lang="en-US" sz="1300" dirty="0"/>
          </a:p>
        </p:txBody>
      </p:sp>
      <p:sp>
        <p:nvSpPr>
          <p:cNvPr id="50" name="Text 48"/>
          <p:cNvSpPr/>
          <p:nvPr/>
        </p:nvSpPr>
        <p:spPr>
          <a:xfrm>
            <a:off x="1581912" y="5605272"/>
            <a:ext cx="9116568" cy="128016"/>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The process does not end at recommendation. The follow-up loop determines whether connection actually becomes belonging.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VOLUNTEER ONBOARDING</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Core team responsibilities</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10</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731520" y="1645920"/>
            <a:ext cx="2514600" cy="3429000"/>
          </a:xfrm>
          <a:prstGeom prst="roundRect">
            <a:avLst>
              <a:gd name="adj" fmla="val 2909"/>
            </a:avLst>
          </a:prstGeom>
          <a:solidFill>
            <a:srgbClr val="FFFFFF"/>
          </a:solidFill>
          <a:ln w="11430">
            <a:solidFill>
              <a:srgbClr val="E6DFD2"/>
            </a:solidFill>
            <a:prstDash val="solid"/>
          </a:ln>
        </p:spPr>
        <p:txBody>
          <a:bodyPr/>
          <a:lstStyle/>
          <a:p>
            <a:endParaRPr lang="en-US"/>
          </a:p>
        </p:txBody>
      </p:sp>
      <p:sp>
        <p:nvSpPr>
          <p:cNvPr id="9" name="Shape 7"/>
          <p:cNvSpPr/>
          <p:nvPr/>
        </p:nvSpPr>
        <p:spPr>
          <a:xfrm>
            <a:off x="731520" y="1645920"/>
            <a:ext cx="73152" cy="3429000"/>
          </a:xfrm>
          <a:prstGeom prst="rect">
            <a:avLst/>
          </a:prstGeom>
          <a:solidFill>
            <a:srgbClr val="1B7B63"/>
          </a:solidFill>
          <a:ln w="12700">
            <a:solidFill>
              <a:srgbClr val="1B7B63"/>
            </a:solidFill>
            <a:prstDash val="solid"/>
          </a:ln>
        </p:spPr>
        <p:txBody>
          <a:bodyPr/>
          <a:lstStyle/>
          <a:p>
            <a:endParaRPr lang="en-US"/>
          </a:p>
        </p:txBody>
      </p:sp>
      <p:sp>
        <p:nvSpPr>
          <p:cNvPr id="10" name="Text 8"/>
          <p:cNvSpPr/>
          <p:nvPr/>
        </p:nvSpPr>
        <p:spPr>
          <a:xfrm>
            <a:off x="960120" y="1801368"/>
            <a:ext cx="2130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Relationship Team</a:t>
            </a:r>
            <a:endParaRPr lang="en-US" sz="1300" dirty="0"/>
          </a:p>
        </p:txBody>
      </p:sp>
      <p:sp>
        <p:nvSpPr>
          <p:cNvPr id="11" name="Text 9"/>
          <p:cNvSpPr/>
          <p:nvPr/>
        </p:nvSpPr>
        <p:spPr>
          <a:xfrm>
            <a:off x="987552" y="2176272"/>
            <a:ext cx="2075688" cy="27706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Engage attendees</a:t>
            </a:r>
            <a:endParaRPr lang="en-US" sz="1020" dirty="0"/>
          </a:p>
          <a:p>
            <a:r>
              <a:rPr lang="en-US" sz="1020" dirty="0">
                <a:solidFill>
                  <a:srgbClr val="6F6861"/>
                </a:solidFill>
                <a:latin typeface="Calibri" pitchFamily="34" charset="0"/>
                <a:ea typeface="Calibri" pitchFamily="34" charset="-122"/>
                <a:cs typeface="Calibri" pitchFamily="34" charset="-120"/>
              </a:rPr>
              <a:t>Learn names and interests</a:t>
            </a:r>
            <a:endParaRPr lang="en-US" sz="1020" dirty="0"/>
          </a:p>
          <a:p>
            <a:r>
              <a:rPr lang="en-US" sz="1020" dirty="0">
                <a:solidFill>
                  <a:srgbClr val="6F6861"/>
                </a:solidFill>
                <a:latin typeface="Calibri" pitchFamily="34" charset="0"/>
                <a:ea typeface="Calibri" pitchFamily="34" charset="-122"/>
                <a:cs typeface="Calibri" pitchFamily="34" charset="-120"/>
              </a:rPr>
              <a:t>Create familiarity</a:t>
            </a:r>
            <a:endParaRPr lang="en-US" sz="1020" dirty="0"/>
          </a:p>
          <a:p>
            <a:r>
              <a:rPr lang="en-US" sz="1020" dirty="0">
                <a:solidFill>
                  <a:srgbClr val="6F6861"/>
                </a:solidFill>
                <a:latin typeface="Calibri" pitchFamily="34" charset="0"/>
                <a:ea typeface="Calibri" pitchFamily="34" charset="-122"/>
                <a:cs typeface="Calibri" pitchFamily="34" charset="-120"/>
              </a:rPr>
              <a:t>Help people feel seen</a:t>
            </a:r>
            <a:endParaRPr lang="en-US" sz="1020" dirty="0"/>
          </a:p>
        </p:txBody>
      </p:sp>
      <p:sp>
        <p:nvSpPr>
          <p:cNvPr id="12" name="Shape 10"/>
          <p:cNvSpPr/>
          <p:nvPr/>
        </p:nvSpPr>
        <p:spPr>
          <a:xfrm>
            <a:off x="3520440" y="1645920"/>
            <a:ext cx="2514600" cy="3429000"/>
          </a:xfrm>
          <a:prstGeom prst="roundRect">
            <a:avLst>
              <a:gd name="adj" fmla="val 2909"/>
            </a:avLst>
          </a:prstGeom>
          <a:solidFill>
            <a:srgbClr val="FFFFFF"/>
          </a:solidFill>
          <a:ln w="11430">
            <a:solidFill>
              <a:srgbClr val="E6DFD2"/>
            </a:solidFill>
            <a:prstDash val="solid"/>
          </a:ln>
        </p:spPr>
        <p:txBody>
          <a:bodyPr/>
          <a:lstStyle/>
          <a:p>
            <a:endParaRPr lang="en-US"/>
          </a:p>
        </p:txBody>
      </p:sp>
      <p:sp>
        <p:nvSpPr>
          <p:cNvPr id="13" name="Shape 11"/>
          <p:cNvSpPr/>
          <p:nvPr/>
        </p:nvSpPr>
        <p:spPr>
          <a:xfrm>
            <a:off x="3520440" y="1645920"/>
            <a:ext cx="73152" cy="3429000"/>
          </a:xfrm>
          <a:prstGeom prst="rect">
            <a:avLst/>
          </a:prstGeom>
          <a:solidFill>
            <a:srgbClr val="C8A85E"/>
          </a:solidFill>
          <a:ln w="12700">
            <a:solidFill>
              <a:srgbClr val="C8A85E"/>
            </a:solidFill>
            <a:prstDash val="solid"/>
          </a:ln>
        </p:spPr>
        <p:txBody>
          <a:bodyPr/>
          <a:lstStyle/>
          <a:p>
            <a:endParaRPr lang="en-US"/>
          </a:p>
        </p:txBody>
      </p:sp>
      <p:sp>
        <p:nvSpPr>
          <p:cNvPr id="14" name="Text 12"/>
          <p:cNvSpPr/>
          <p:nvPr/>
        </p:nvSpPr>
        <p:spPr>
          <a:xfrm>
            <a:off x="3749040" y="1801368"/>
            <a:ext cx="2130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Operations Team</a:t>
            </a:r>
            <a:endParaRPr lang="en-US" sz="1300" dirty="0"/>
          </a:p>
        </p:txBody>
      </p:sp>
      <p:sp>
        <p:nvSpPr>
          <p:cNvPr id="15" name="Text 13"/>
          <p:cNvSpPr/>
          <p:nvPr/>
        </p:nvSpPr>
        <p:spPr>
          <a:xfrm>
            <a:off x="3776472" y="2176272"/>
            <a:ext cx="2075688" cy="27706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Track communication</a:t>
            </a:r>
            <a:endParaRPr lang="en-US" sz="1020" dirty="0"/>
          </a:p>
          <a:p>
            <a:r>
              <a:rPr lang="en-US" sz="1020" dirty="0">
                <a:solidFill>
                  <a:srgbClr val="6F6861"/>
                </a:solidFill>
                <a:latin typeface="Calibri" pitchFamily="34" charset="0"/>
                <a:ea typeface="Calibri" pitchFamily="34" charset="-122"/>
                <a:cs typeface="Calibri" pitchFamily="34" charset="-120"/>
              </a:rPr>
              <a:t>Maintain forms/sheets</a:t>
            </a:r>
            <a:endParaRPr lang="en-US" sz="1020" dirty="0"/>
          </a:p>
          <a:p>
            <a:r>
              <a:rPr lang="en-US" sz="1020" dirty="0">
                <a:solidFill>
                  <a:srgbClr val="6F6861"/>
                </a:solidFill>
                <a:latin typeface="Calibri" pitchFamily="34" charset="0"/>
                <a:ea typeface="Calibri" pitchFamily="34" charset="-122"/>
                <a:cs typeface="Calibri" pitchFamily="34" charset="-120"/>
              </a:rPr>
              <a:t>Coordinate handoffs</a:t>
            </a:r>
            <a:endParaRPr lang="en-US" sz="1020" dirty="0"/>
          </a:p>
          <a:p>
            <a:r>
              <a:rPr lang="en-US" sz="1020" dirty="0">
                <a:solidFill>
                  <a:srgbClr val="6F6861"/>
                </a:solidFill>
                <a:latin typeface="Calibri" pitchFamily="34" charset="0"/>
                <a:ea typeface="Calibri" pitchFamily="34" charset="-122"/>
                <a:cs typeface="Calibri" pitchFamily="34" charset="-120"/>
              </a:rPr>
              <a:t>Prepare review updates</a:t>
            </a:r>
            <a:endParaRPr lang="en-US" sz="1020" dirty="0"/>
          </a:p>
        </p:txBody>
      </p:sp>
      <p:sp>
        <p:nvSpPr>
          <p:cNvPr id="16" name="Shape 14"/>
          <p:cNvSpPr/>
          <p:nvPr/>
        </p:nvSpPr>
        <p:spPr>
          <a:xfrm>
            <a:off x="6309360" y="1645920"/>
            <a:ext cx="2514600" cy="3429000"/>
          </a:xfrm>
          <a:prstGeom prst="roundRect">
            <a:avLst>
              <a:gd name="adj" fmla="val 2909"/>
            </a:avLst>
          </a:prstGeom>
          <a:solidFill>
            <a:srgbClr val="FFFFFF"/>
          </a:solidFill>
          <a:ln w="11430">
            <a:solidFill>
              <a:srgbClr val="E6DFD2"/>
            </a:solidFill>
            <a:prstDash val="solid"/>
          </a:ln>
        </p:spPr>
        <p:txBody>
          <a:bodyPr/>
          <a:lstStyle/>
          <a:p>
            <a:endParaRPr lang="en-US"/>
          </a:p>
        </p:txBody>
      </p:sp>
      <p:sp>
        <p:nvSpPr>
          <p:cNvPr id="17" name="Shape 15"/>
          <p:cNvSpPr/>
          <p:nvPr/>
        </p:nvSpPr>
        <p:spPr>
          <a:xfrm>
            <a:off x="6309360" y="1645920"/>
            <a:ext cx="73152" cy="3429000"/>
          </a:xfrm>
          <a:prstGeom prst="rect">
            <a:avLst/>
          </a:prstGeom>
          <a:solidFill>
            <a:srgbClr val="1E4C8C"/>
          </a:solidFill>
          <a:ln w="12700">
            <a:solidFill>
              <a:srgbClr val="1E4C8C"/>
            </a:solidFill>
            <a:prstDash val="solid"/>
          </a:ln>
        </p:spPr>
        <p:txBody>
          <a:bodyPr/>
          <a:lstStyle/>
          <a:p>
            <a:endParaRPr lang="en-US"/>
          </a:p>
        </p:txBody>
      </p:sp>
      <p:sp>
        <p:nvSpPr>
          <p:cNvPr id="18" name="Text 16"/>
          <p:cNvSpPr/>
          <p:nvPr/>
        </p:nvSpPr>
        <p:spPr>
          <a:xfrm>
            <a:off x="6537960" y="1801368"/>
            <a:ext cx="2130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Matching Team</a:t>
            </a:r>
            <a:endParaRPr lang="en-US" sz="1300" dirty="0"/>
          </a:p>
        </p:txBody>
      </p:sp>
      <p:sp>
        <p:nvSpPr>
          <p:cNvPr id="19" name="Text 17"/>
          <p:cNvSpPr/>
          <p:nvPr/>
        </p:nvSpPr>
        <p:spPr>
          <a:xfrm>
            <a:off x="6565392" y="2176272"/>
            <a:ext cx="2075688" cy="27706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Know group options</a:t>
            </a:r>
            <a:endParaRPr lang="en-US" sz="1020" dirty="0"/>
          </a:p>
          <a:p>
            <a:r>
              <a:rPr lang="en-US" sz="1020" dirty="0">
                <a:solidFill>
                  <a:srgbClr val="6F6861"/>
                </a:solidFill>
                <a:latin typeface="Calibri" pitchFamily="34" charset="0"/>
                <a:ea typeface="Calibri" pitchFamily="34" charset="-122"/>
                <a:cs typeface="Calibri" pitchFamily="34" charset="-120"/>
              </a:rPr>
              <a:t>Recommend best fit</a:t>
            </a:r>
            <a:endParaRPr lang="en-US" sz="1020" dirty="0"/>
          </a:p>
          <a:p>
            <a:r>
              <a:rPr lang="en-US" sz="1020" dirty="0">
                <a:solidFill>
                  <a:srgbClr val="6F6861"/>
                </a:solidFill>
                <a:latin typeface="Calibri" pitchFamily="34" charset="0"/>
                <a:ea typeface="Calibri" pitchFamily="34" charset="-122"/>
                <a:cs typeface="Calibri" pitchFamily="34" charset="-120"/>
              </a:rPr>
              <a:t>Facilitate soft intros</a:t>
            </a:r>
            <a:endParaRPr lang="en-US" sz="1020" dirty="0"/>
          </a:p>
          <a:p>
            <a:r>
              <a:rPr lang="en-US" sz="1020" dirty="0">
                <a:solidFill>
                  <a:srgbClr val="6F6861"/>
                </a:solidFill>
                <a:latin typeface="Calibri" pitchFamily="34" charset="0"/>
                <a:ea typeface="Calibri" pitchFamily="34" charset="-122"/>
                <a:cs typeface="Calibri" pitchFamily="34" charset="-120"/>
              </a:rPr>
              <a:t>Reduce decision friction</a:t>
            </a:r>
            <a:endParaRPr lang="en-US" sz="1020" dirty="0"/>
          </a:p>
        </p:txBody>
      </p:sp>
      <p:sp>
        <p:nvSpPr>
          <p:cNvPr id="20" name="Shape 18"/>
          <p:cNvSpPr/>
          <p:nvPr/>
        </p:nvSpPr>
        <p:spPr>
          <a:xfrm>
            <a:off x="9098280" y="1645920"/>
            <a:ext cx="2514600" cy="3429000"/>
          </a:xfrm>
          <a:prstGeom prst="roundRect">
            <a:avLst>
              <a:gd name="adj" fmla="val 2909"/>
            </a:avLst>
          </a:prstGeom>
          <a:solidFill>
            <a:srgbClr val="FFFFFF"/>
          </a:solidFill>
          <a:ln w="11430">
            <a:solidFill>
              <a:srgbClr val="E6DFD2"/>
            </a:solidFill>
            <a:prstDash val="solid"/>
          </a:ln>
        </p:spPr>
        <p:txBody>
          <a:bodyPr/>
          <a:lstStyle/>
          <a:p>
            <a:endParaRPr lang="en-US"/>
          </a:p>
        </p:txBody>
      </p:sp>
      <p:sp>
        <p:nvSpPr>
          <p:cNvPr id="21" name="Shape 19"/>
          <p:cNvSpPr/>
          <p:nvPr/>
        </p:nvSpPr>
        <p:spPr>
          <a:xfrm>
            <a:off x="9098280" y="1645920"/>
            <a:ext cx="73152" cy="3429000"/>
          </a:xfrm>
          <a:prstGeom prst="rect">
            <a:avLst/>
          </a:prstGeom>
          <a:solidFill>
            <a:srgbClr val="1B7B63"/>
          </a:solidFill>
          <a:ln w="12700">
            <a:solidFill>
              <a:srgbClr val="1B7B63"/>
            </a:solidFill>
            <a:prstDash val="solid"/>
          </a:ln>
        </p:spPr>
        <p:txBody>
          <a:bodyPr/>
          <a:lstStyle/>
          <a:p>
            <a:endParaRPr lang="en-US"/>
          </a:p>
        </p:txBody>
      </p:sp>
      <p:sp>
        <p:nvSpPr>
          <p:cNvPr id="22" name="Text 20"/>
          <p:cNvSpPr/>
          <p:nvPr/>
        </p:nvSpPr>
        <p:spPr>
          <a:xfrm>
            <a:off x="9326880" y="1801368"/>
            <a:ext cx="2130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Follow-Up Team</a:t>
            </a:r>
            <a:endParaRPr lang="en-US" sz="1300" dirty="0"/>
          </a:p>
        </p:txBody>
      </p:sp>
      <p:sp>
        <p:nvSpPr>
          <p:cNvPr id="23" name="Text 21"/>
          <p:cNvSpPr/>
          <p:nvPr/>
        </p:nvSpPr>
        <p:spPr>
          <a:xfrm>
            <a:off x="9354312" y="2176272"/>
            <a:ext cx="2075688" cy="27706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Check in after group visits</a:t>
            </a:r>
            <a:endParaRPr lang="en-US" sz="1020" dirty="0"/>
          </a:p>
          <a:p>
            <a:r>
              <a:rPr lang="en-US" sz="1020" dirty="0">
                <a:solidFill>
                  <a:srgbClr val="6F6861"/>
                </a:solidFill>
                <a:latin typeface="Calibri" pitchFamily="34" charset="0"/>
                <a:ea typeface="Calibri" pitchFamily="34" charset="-122"/>
                <a:cs typeface="Calibri" pitchFamily="34" charset="-120"/>
              </a:rPr>
              <a:t>Identify friction</a:t>
            </a:r>
            <a:endParaRPr lang="en-US" sz="1020" dirty="0"/>
          </a:p>
          <a:p>
            <a:r>
              <a:rPr lang="en-US" sz="1020" dirty="0">
                <a:solidFill>
                  <a:srgbClr val="6F6861"/>
                </a:solidFill>
                <a:latin typeface="Calibri" pitchFamily="34" charset="0"/>
                <a:ea typeface="Calibri" pitchFamily="34" charset="-122"/>
                <a:cs typeface="Calibri" pitchFamily="34" charset="-120"/>
              </a:rPr>
              <a:t>Redirect when needed</a:t>
            </a:r>
            <a:endParaRPr lang="en-US" sz="1020" dirty="0"/>
          </a:p>
          <a:p>
            <a:r>
              <a:rPr lang="en-US" sz="1020" dirty="0">
                <a:solidFill>
                  <a:srgbClr val="6F6861"/>
                </a:solidFill>
                <a:latin typeface="Calibri" pitchFamily="34" charset="0"/>
                <a:ea typeface="Calibri" pitchFamily="34" charset="-122"/>
                <a:cs typeface="Calibri" pitchFamily="34" charset="-120"/>
              </a:rPr>
              <a:t>Ensure nobody disappears silently</a:t>
            </a:r>
            <a:endParaRPr lang="en-US" sz="1020" dirty="0"/>
          </a:p>
        </p:txBody>
      </p:sp>
      <p:sp>
        <p:nvSpPr>
          <p:cNvPr id="24" name="Text 22"/>
          <p:cNvSpPr/>
          <p:nvPr/>
        </p:nvSpPr>
        <p:spPr>
          <a:xfrm>
            <a:off x="1234440" y="5513832"/>
            <a:ext cx="9692640" cy="320040"/>
          </a:xfrm>
          <a:prstGeom prst="rect">
            <a:avLst/>
          </a:prstGeom>
          <a:noFill/>
          <a:ln/>
        </p:spPr>
        <p:txBody>
          <a:bodyPr wrap="square" lIns="0" tIns="0" rIns="0" bIns="0" rtlCol="0" anchor="ctr"/>
          <a:lstStyle/>
          <a:p>
            <a:pPr marL="0" indent="0" algn="ctr">
              <a:buNone/>
            </a:pPr>
            <a:r>
              <a:rPr lang="en-US" sz="1650" b="1" dirty="0">
                <a:solidFill>
                  <a:srgbClr val="1A1814"/>
                </a:solidFill>
                <a:latin typeface="Calibri" pitchFamily="34" charset="0"/>
                <a:ea typeface="Calibri" pitchFamily="34" charset="-122"/>
                <a:cs typeface="Calibri" pitchFamily="34" charset="-120"/>
              </a:rPr>
              <a:t>One mission, multiple lanes: build trust → guide next step → confirm connection.</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CHAIN OF COMMUNICATION</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Communication must be clear and accountable</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11</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6080760" y="1956816"/>
            <a:ext cx="0" cy="475488"/>
          </a:xfrm>
          <a:prstGeom prst="line">
            <a:avLst/>
          </a:prstGeom>
          <a:noFill/>
          <a:ln w="17780">
            <a:solidFill>
              <a:srgbClr val="C8A85E"/>
            </a:solidFill>
            <a:prstDash val="solid"/>
            <a:tailEnd type="triangle"/>
          </a:ln>
        </p:spPr>
        <p:txBody>
          <a:bodyPr/>
          <a:lstStyle/>
          <a:p>
            <a:endParaRPr lang="en-US"/>
          </a:p>
        </p:txBody>
      </p:sp>
      <p:sp>
        <p:nvSpPr>
          <p:cNvPr id="9" name="Shape 7"/>
          <p:cNvSpPr/>
          <p:nvPr/>
        </p:nvSpPr>
        <p:spPr>
          <a:xfrm>
            <a:off x="6080760" y="2761488"/>
            <a:ext cx="0" cy="384048"/>
          </a:xfrm>
          <a:prstGeom prst="line">
            <a:avLst/>
          </a:prstGeom>
          <a:noFill/>
          <a:ln w="17780">
            <a:solidFill>
              <a:srgbClr val="C8A85E"/>
            </a:solidFill>
            <a:prstDash val="solid"/>
            <a:tailEnd type="triangle"/>
          </a:ln>
        </p:spPr>
        <p:txBody>
          <a:bodyPr/>
          <a:lstStyle/>
          <a:p>
            <a:endParaRPr lang="en-US"/>
          </a:p>
        </p:txBody>
      </p:sp>
      <p:sp>
        <p:nvSpPr>
          <p:cNvPr id="10" name="Shape 8"/>
          <p:cNvSpPr/>
          <p:nvPr/>
        </p:nvSpPr>
        <p:spPr>
          <a:xfrm>
            <a:off x="6080760" y="3493008"/>
            <a:ext cx="0" cy="384048"/>
          </a:xfrm>
          <a:prstGeom prst="line">
            <a:avLst/>
          </a:prstGeom>
          <a:noFill/>
          <a:ln w="17780">
            <a:solidFill>
              <a:srgbClr val="C8A85E"/>
            </a:solidFill>
            <a:prstDash val="solid"/>
            <a:tailEnd type="triangle"/>
          </a:ln>
        </p:spPr>
        <p:txBody>
          <a:bodyPr/>
          <a:lstStyle/>
          <a:p>
            <a:endParaRPr lang="en-US"/>
          </a:p>
        </p:txBody>
      </p:sp>
      <p:sp>
        <p:nvSpPr>
          <p:cNvPr id="11" name="Shape 9"/>
          <p:cNvSpPr/>
          <p:nvPr/>
        </p:nvSpPr>
        <p:spPr>
          <a:xfrm>
            <a:off x="3319272" y="4572000"/>
            <a:ext cx="5468112" cy="0"/>
          </a:xfrm>
          <a:prstGeom prst="line">
            <a:avLst/>
          </a:prstGeom>
          <a:noFill/>
          <a:ln w="15240">
            <a:solidFill>
              <a:srgbClr val="C8A85E"/>
            </a:solidFill>
            <a:prstDash val="solid"/>
          </a:ln>
        </p:spPr>
        <p:txBody>
          <a:bodyPr/>
          <a:lstStyle/>
          <a:p>
            <a:endParaRPr lang="en-US"/>
          </a:p>
        </p:txBody>
      </p:sp>
      <p:sp>
        <p:nvSpPr>
          <p:cNvPr id="12" name="Shape 10"/>
          <p:cNvSpPr/>
          <p:nvPr/>
        </p:nvSpPr>
        <p:spPr>
          <a:xfrm>
            <a:off x="3319272" y="4572000"/>
            <a:ext cx="0" cy="347472"/>
          </a:xfrm>
          <a:prstGeom prst="line">
            <a:avLst/>
          </a:prstGeom>
          <a:noFill/>
          <a:ln w="15240">
            <a:solidFill>
              <a:srgbClr val="C8A85E"/>
            </a:solidFill>
            <a:prstDash val="solid"/>
            <a:tailEnd type="triangle"/>
          </a:ln>
        </p:spPr>
        <p:txBody>
          <a:bodyPr/>
          <a:lstStyle/>
          <a:p>
            <a:endParaRPr lang="en-US"/>
          </a:p>
        </p:txBody>
      </p:sp>
      <p:sp>
        <p:nvSpPr>
          <p:cNvPr id="13" name="Shape 11"/>
          <p:cNvSpPr/>
          <p:nvPr/>
        </p:nvSpPr>
        <p:spPr>
          <a:xfrm>
            <a:off x="8787384" y="4572000"/>
            <a:ext cx="0" cy="347472"/>
          </a:xfrm>
          <a:prstGeom prst="line">
            <a:avLst/>
          </a:prstGeom>
          <a:noFill/>
          <a:ln w="15240">
            <a:solidFill>
              <a:srgbClr val="C8A85E"/>
            </a:solidFill>
            <a:prstDash val="solid"/>
            <a:tailEnd type="triangle"/>
          </a:ln>
        </p:spPr>
        <p:txBody>
          <a:bodyPr/>
          <a:lstStyle/>
          <a:p>
            <a:endParaRPr lang="en-US"/>
          </a:p>
        </p:txBody>
      </p:sp>
      <p:sp>
        <p:nvSpPr>
          <p:cNvPr id="14" name="Shape 12"/>
          <p:cNvSpPr/>
          <p:nvPr/>
        </p:nvSpPr>
        <p:spPr>
          <a:xfrm>
            <a:off x="4160520" y="1417320"/>
            <a:ext cx="3840480" cy="530352"/>
          </a:xfrm>
          <a:prstGeom prst="roundRect">
            <a:avLst>
              <a:gd name="adj" fmla="val 13793"/>
            </a:avLst>
          </a:prstGeom>
          <a:solidFill>
            <a:srgbClr val="1A1814"/>
          </a:solidFill>
          <a:ln w="13970">
            <a:solidFill>
              <a:srgbClr val="1A1814"/>
            </a:solidFill>
            <a:prstDash val="solid"/>
          </a:ln>
        </p:spPr>
        <p:txBody>
          <a:bodyPr/>
          <a:lstStyle/>
          <a:p>
            <a:endParaRPr lang="en-US"/>
          </a:p>
        </p:txBody>
      </p:sp>
      <p:sp>
        <p:nvSpPr>
          <p:cNvPr id="15" name="Text 13"/>
          <p:cNvSpPr/>
          <p:nvPr/>
        </p:nvSpPr>
        <p:spPr>
          <a:xfrm>
            <a:off x="4233672" y="1581912"/>
            <a:ext cx="3694176" cy="164592"/>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latin typeface="Calibri" pitchFamily="34" charset="0"/>
                <a:ea typeface="Calibri" pitchFamily="34" charset="-122"/>
                <a:cs typeface="Calibri" pitchFamily="34" charset="-120"/>
              </a:rPr>
              <a:t>Minister + Leadership</a:t>
            </a:r>
            <a:endParaRPr lang="en-US" sz="1130" dirty="0"/>
          </a:p>
        </p:txBody>
      </p:sp>
      <p:sp>
        <p:nvSpPr>
          <p:cNvPr id="16" name="Shape 14"/>
          <p:cNvSpPr/>
          <p:nvPr/>
        </p:nvSpPr>
        <p:spPr>
          <a:xfrm>
            <a:off x="4526280" y="2432304"/>
            <a:ext cx="3108960" cy="530352"/>
          </a:xfrm>
          <a:prstGeom prst="roundRect">
            <a:avLst>
              <a:gd name="adj" fmla="val 13793"/>
            </a:avLst>
          </a:prstGeom>
          <a:solidFill>
            <a:srgbClr val="1B7B63"/>
          </a:solidFill>
          <a:ln w="13970">
            <a:solidFill>
              <a:srgbClr val="1B7B63"/>
            </a:solidFill>
            <a:prstDash val="solid"/>
          </a:ln>
        </p:spPr>
        <p:txBody>
          <a:bodyPr/>
          <a:lstStyle/>
          <a:p>
            <a:endParaRPr lang="en-US"/>
          </a:p>
        </p:txBody>
      </p:sp>
      <p:sp>
        <p:nvSpPr>
          <p:cNvPr id="17" name="Text 15"/>
          <p:cNvSpPr/>
          <p:nvPr/>
        </p:nvSpPr>
        <p:spPr>
          <a:xfrm>
            <a:off x="4599432" y="2596896"/>
            <a:ext cx="2962656" cy="164592"/>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latin typeface="Calibri" pitchFamily="34" charset="0"/>
                <a:ea typeface="Calibri" pitchFamily="34" charset="-122"/>
                <a:cs typeface="Calibri" pitchFamily="34" charset="-120"/>
              </a:rPr>
              <a:t>Bridge Team Lead</a:t>
            </a:r>
            <a:endParaRPr lang="en-US" sz="1130" dirty="0"/>
          </a:p>
        </p:txBody>
      </p:sp>
      <p:sp>
        <p:nvSpPr>
          <p:cNvPr id="18" name="Shape 16"/>
          <p:cNvSpPr/>
          <p:nvPr/>
        </p:nvSpPr>
        <p:spPr>
          <a:xfrm>
            <a:off x="4617720" y="3145536"/>
            <a:ext cx="2926080" cy="530352"/>
          </a:xfrm>
          <a:prstGeom prst="roundRect">
            <a:avLst>
              <a:gd name="adj" fmla="val 13793"/>
            </a:avLst>
          </a:prstGeom>
          <a:solidFill>
            <a:srgbClr val="C8A85E"/>
          </a:solidFill>
          <a:ln w="13970">
            <a:solidFill>
              <a:srgbClr val="C8A85E"/>
            </a:solidFill>
            <a:prstDash val="solid"/>
          </a:ln>
        </p:spPr>
        <p:txBody>
          <a:bodyPr/>
          <a:lstStyle/>
          <a:p>
            <a:endParaRPr lang="en-US"/>
          </a:p>
        </p:txBody>
      </p:sp>
      <p:sp>
        <p:nvSpPr>
          <p:cNvPr id="19" name="Text 17"/>
          <p:cNvSpPr/>
          <p:nvPr/>
        </p:nvSpPr>
        <p:spPr>
          <a:xfrm>
            <a:off x="4690872" y="3310128"/>
            <a:ext cx="2779776" cy="164592"/>
          </a:xfrm>
          <a:prstGeom prst="rect">
            <a:avLst/>
          </a:prstGeom>
          <a:noFill/>
          <a:ln/>
        </p:spPr>
        <p:txBody>
          <a:bodyPr wrap="square" lIns="0" tIns="0" rIns="0" bIns="0" rtlCol="0" anchor="ctr">
            <a:normAutofit/>
          </a:bodyPr>
          <a:lstStyle/>
          <a:p>
            <a:pPr marL="0" indent="0" algn="ctr">
              <a:buNone/>
            </a:pPr>
            <a:r>
              <a:rPr lang="en-US" sz="1130" b="1" dirty="0">
                <a:solidFill>
                  <a:srgbClr val="12100E"/>
                </a:solidFill>
                <a:latin typeface="Calibri" pitchFamily="34" charset="0"/>
                <a:ea typeface="Calibri" pitchFamily="34" charset="-122"/>
                <a:cs typeface="Calibri" pitchFamily="34" charset="-120"/>
              </a:rPr>
              <a:t>Lane Coordinators</a:t>
            </a:r>
            <a:endParaRPr lang="en-US" sz="1130" dirty="0"/>
          </a:p>
        </p:txBody>
      </p:sp>
      <p:sp>
        <p:nvSpPr>
          <p:cNvPr id="20" name="Shape 18"/>
          <p:cNvSpPr/>
          <p:nvPr/>
        </p:nvSpPr>
        <p:spPr>
          <a:xfrm>
            <a:off x="4526280" y="3877056"/>
            <a:ext cx="3108960" cy="530352"/>
          </a:xfrm>
          <a:prstGeom prst="roundRect">
            <a:avLst>
              <a:gd name="adj" fmla="val 13793"/>
            </a:avLst>
          </a:prstGeom>
          <a:solidFill>
            <a:srgbClr val="1E4C8C"/>
          </a:solidFill>
          <a:ln w="13970">
            <a:solidFill>
              <a:srgbClr val="1E4C8C"/>
            </a:solidFill>
            <a:prstDash val="solid"/>
          </a:ln>
        </p:spPr>
        <p:txBody>
          <a:bodyPr/>
          <a:lstStyle/>
          <a:p>
            <a:endParaRPr lang="en-US"/>
          </a:p>
        </p:txBody>
      </p:sp>
      <p:sp>
        <p:nvSpPr>
          <p:cNvPr id="21" name="Text 19"/>
          <p:cNvSpPr/>
          <p:nvPr/>
        </p:nvSpPr>
        <p:spPr>
          <a:xfrm>
            <a:off x="4599432" y="4041648"/>
            <a:ext cx="2962656" cy="164592"/>
          </a:xfrm>
          <a:prstGeom prst="rect">
            <a:avLst/>
          </a:prstGeom>
          <a:noFill/>
          <a:ln/>
        </p:spPr>
        <p:txBody>
          <a:bodyPr wrap="square" lIns="0" tIns="0" rIns="0" bIns="0" rtlCol="0" anchor="ctr">
            <a:normAutofit/>
          </a:bodyPr>
          <a:lstStyle/>
          <a:p>
            <a:pPr marL="0" indent="0" algn="ctr">
              <a:buNone/>
            </a:pPr>
            <a:r>
              <a:rPr lang="en-US" sz="1130" b="1" dirty="0">
                <a:solidFill>
                  <a:srgbClr val="FFFFFF"/>
                </a:solidFill>
                <a:latin typeface="Calibri" pitchFamily="34" charset="0"/>
                <a:ea typeface="Calibri" pitchFamily="34" charset="-122"/>
                <a:cs typeface="Calibri" pitchFamily="34" charset="-120"/>
              </a:rPr>
              <a:t>Bridge Team Volunteers</a:t>
            </a:r>
            <a:endParaRPr lang="en-US" sz="1130" dirty="0"/>
          </a:p>
        </p:txBody>
      </p:sp>
      <p:sp>
        <p:nvSpPr>
          <p:cNvPr id="22" name="Shape 20"/>
          <p:cNvSpPr/>
          <p:nvPr/>
        </p:nvSpPr>
        <p:spPr>
          <a:xfrm>
            <a:off x="2176272" y="4937760"/>
            <a:ext cx="2286000" cy="530352"/>
          </a:xfrm>
          <a:prstGeom prst="roundRect">
            <a:avLst>
              <a:gd name="adj" fmla="val 13793"/>
            </a:avLst>
          </a:prstGeom>
          <a:solidFill>
            <a:srgbClr val="FFFFFF"/>
          </a:solidFill>
          <a:ln w="13970">
            <a:solidFill>
              <a:srgbClr val="DCD4CA"/>
            </a:solidFill>
            <a:prstDash val="solid"/>
          </a:ln>
        </p:spPr>
        <p:txBody>
          <a:bodyPr/>
          <a:lstStyle/>
          <a:p>
            <a:endParaRPr lang="en-US"/>
          </a:p>
        </p:txBody>
      </p:sp>
      <p:sp>
        <p:nvSpPr>
          <p:cNvPr id="23" name="Text 21"/>
          <p:cNvSpPr/>
          <p:nvPr/>
        </p:nvSpPr>
        <p:spPr>
          <a:xfrm>
            <a:off x="2249424" y="5102352"/>
            <a:ext cx="2139696" cy="164592"/>
          </a:xfrm>
          <a:prstGeom prst="rect">
            <a:avLst/>
          </a:prstGeom>
          <a:noFill/>
          <a:ln/>
        </p:spPr>
        <p:txBody>
          <a:bodyPr wrap="square" lIns="0" tIns="0" rIns="0" bIns="0" rtlCol="0" anchor="ctr">
            <a:normAutofit/>
          </a:bodyPr>
          <a:lstStyle/>
          <a:p>
            <a:pPr marL="0" indent="0" algn="ctr">
              <a:buNone/>
            </a:pPr>
            <a:r>
              <a:rPr lang="en-US" sz="1130" b="1" dirty="0">
                <a:solidFill>
                  <a:srgbClr val="1A1814"/>
                </a:solidFill>
                <a:latin typeface="Calibri" pitchFamily="34" charset="0"/>
                <a:ea typeface="Calibri" pitchFamily="34" charset="-122"/>
                <a:cs typeface="Calibri" pitchFamily="34" charset="-120"/>
              </a:rPr>
              <a:t>Connect Group Leaders</a:t>
            </a:r>
            <a:endParaRPr lang="en-US" sz="1130" dirty="0"/>
          </a:p>
        </p:txBody>
      </p:sp>
      <p:sp>
        <p:nvSpPr>
          <p:cNvPr id="24" name="Shape 22"/>
          <p:cNvSpPr/>
          <p:nvPr/>
        </p:nvSpPr>
        <p:spPr>
          <a:xfrm>
            <a:off x="7680960" y="4937760"/>
            <a:ext cx="2286000" cy="530352"/>
          </a:xfrm>
          <a:prstGeom prst="roundRect">
            <a:avLst>
              <a:gd name="adj" fmla="val 13793"/>
            </a:avLst>
          </a:prstGeom>
          <a:solidFill>
            <a:srgbClr val="FFFFFF"/>
          </a:solidFill>
          <a:ln w="13970">
            <a:solidFill>
              <a:srgbClr val="DCD4CA"/>
            </a:solidFill>
            <a:prstDash val="solid"/>
          </a:ln>
        </p:spPr>
        <p:txBody>
          <a:bodyPr/>
          <a:lstStyle/>
          <a:p>
            <a:endParaRPr lang="en-US"/>
          </a:p>
        </p:txBody>
      </p:sp>
      <p:sp>
        <p:nvSpPr>
          <p:cNvPr id="25" name="Text 23"/>
          <p:cNvSpPr/>
          <p:nvPr/>
        </p:nvSpPr>
        <p:spPr>
          <a:xfrm>
            <a:off x="7754112" y="5102352"/>
            <a:ext cx="2139696" cy="164592"/>
          </a:xfrm>
          <a:prstGeom prst="rect">
            <a:avLst/>
          </a:prstGeom>
          <a:noFill/>
          <a:ln/>
        </p:spPr>
        <p:txBody>
          <a:bodyPr wrap="square" lIns="0" tIns="0" rIns="0" bIns="0" rtlCol="0" anchor="ctr">
            <a:normAutofit/>
          </a:bodyPr>
          <a:lstStyle/>
          <a:p>
            <a:pPr marL="0" indent="0" algn="ctr">
              <a:buNone/>
            </a:pPr>
            <a:r>
              <a:rPr lang="en-US" sz="1130" b="1" dirty="0">
                <a:solidFill>
                  <a:srgbClr val="1A1814"/>
                </a:solidFill>
                <a:latin typeface="Calibri" pitchFamily="34" charset="0"/>
                <a:ea typeface="Calibri" pitchFamily="34" charset="-122"/>
                <a:cs typeface="Calibri" pitchFamily="34" charset="-120"/>
              </a:rPr>
              <a:t>Attendees / Members</a:t>
            </a:r>
            <a:endParaRPr lang="en-US" sz="1130" dirty="0"/>
          </a:p>
        </p:txBody>
      </p:sp>
      <p:sp>
        <p:nvSpPr>
          <p:cNvPr id="26" name="Shape 24"/>
          <p:cNvSpPr/>
          <p:nvPr/>
        </p:nvSpPr>
        <p:spPr>
          <a:xfrm>
            <a:off x="731520" y="5632704"/>
            <a:ext cx="10716768" cy="493776"/>
          </a:xfrm>
          <a:prstGeom prst="roundRect">
            <a:avLst>
              <a:gd name="adj" fmla="val 14815"/>
            </a:avLst>
          </a:prstGeom>
          <a:solidFill>
            <a:srgbClr val="FFF8F6"/>
          </a:solidFill>
          <a:ln w="11430">
            <a:solidFill>
              <a:srgbClr val="E6DFD2"/>
            </a:solidFill>
            <a:prstDash val="solid"/>
          </a:ln>
        </p:spPr>
        <p:txBody>
          <a:bodyPr/>
          <a:lstStyle/>
          <a:p>
            <a:endParaRPr lang="en-US"/>
          </a:p>
        </p:txBody>
      </p:sp>
      <p:sp>
        <p:nvSpPr>
          <p:cNvPr id="27" name="Shape 25"/>
          <p:cNvSpPr/>
          <p:nvPr/>
        </p:nvSpPr>
        <p:spPr>
          <a:xfrm>
            <a:off x="731520" y="5632704"/>
            <a:ext cx="73152" cy="493776"/>
          </a:xfrm>
          <a:prstGeom prst="rect">
            <a:avLst/>
          </a:prstGeom>
          <a:solidFill>
            <a:srgbClr val="A84E42"/>
          </a:solidFill>
          <a:ln w="12700">
            <a:solidFill>
              <a:srgbClr val="A84E42"/>
            </a:solidFill>
            <a:prstDash val="solid"/>
          </a:ln>
        </p:spPr>
        <p:txBody>
          <a:bodyPr/>
          <a:lstStyle/>
          <a:p>
            <a:endParaRPr lang="en-US"/>
          </a:p>
        </p:txBody>
      </p:sp>
      <p:sp>
        <p:nvSpPr>
          <p:cNvPr id="28" name="Text 26"/>
          <p:cNvSpPr/>
          <p:nvPr/>
        </p:nvSpPr>
        <p:spPr>
          <a:xfrm>
            <a:off x="960120" y="5788152"/>
            <a:ext cx="10332720"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Escalation rule</a:t>
            </a:r>
            <a:endParaRPr lang="en-US" sz="1300" dirty="0"/>
          </a:p>
        </p:txBody>
      </p:sp>
      <p:sp>
        <p:nvSpPr>
          <p:cNvPr id="29" name="Text 27"/>
          <p:cNvSpPr/>
          <p:nvPr/>
        </p:nvSpPr>
        <p:spPr>
          <a:xfrm>
            <a:off x="960120" y="6163056"/>
            <a:ext cx="10305288" cy="0"/>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Sensitive concerns move to leadership — not only a volunteer.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OPERATIONS PIPELINE PROTOCOL</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OPP is the operational backbone</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12</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1097280" y="1508760"/>
            <a:ext cx="9966960" cy="347472"/>
          </a:xfrm>
          <a:prstGeom prst="rect">
            <a:avLst/>
          </a:prstGeom>
          <a:noFill/>
          <a:ln/>
        </p:spPr>
        <p:txBody>
          <a:bodyPr wrap="square" lIns="0" tIns="0" rIns="0" bIns="0" rtlCol="0" anchor="ctr"/>
          <a:lstStyle/>
          <a:p>
            <a:pPr marL="0" indent="0" algn="ctr">
              <a:buNone/>
            </a:pPr>
            <a:r>
              <a:rPr lang="en-US" sz="1720" b="1" dirty="0">
                <a:solidFill>
                  <a:srgbClr val="1A1814"/>
                </a:solidFill>
                <a:latin typeface="Calibri" pitchFamily="34" charset="0"/>
                <a:ea typeface="Calibri" pitchFamily="34" charset="-122"/>
                <a:cs typeface="Calibri" pitchFamily="34" charset="-120"/>
              </a:rPr>
              <a:t>The OPP makes the Bridge Team teachable, repeatable, reviewable, and scalable.</a:t>
            </a:r>
            <a:endParaRPr lang="en-US" sz="1720" dirty="0"/>
          </a:p>
        </p:txBody>
      </p:sp>
      <p:sp>
        <p:nvSpPr>
          <p:cNvPr id="9" name="Shape 7"/>
          <p:cNvSpPr/>
          <p:nvPr/>
        </p:nvSpPr>
        <p:spPr>
          <a:xfrm>
            <a:off x="868680" y="2331720"/>
            <a:ext cx="2240280" cy="2240280"/>
          </a:xfrm>
          <a:prstGeom prst="roundRect">
            <a:avLst>
              <a:gd name="adj" fmla="val 3265"/>
            </a:avLst>
          </a:prstGeom>
          <a:solidFill>
            <a:srgbClr val="FFFFFF"/>
          </a:solidFill>
          <a:ln w="12700">
            <a:solidFill>
              <a:srgbClr val="E2DACF"/>
            </a:solidFill>
            <a:prstDash val="solid"/>
          </a:ln>
        </p:spPr>
        <p:txBody>
          <a:bodyPr/>
          <a:lstStyle/>
          <a:p>
            <a:endParaRPr lang="en-US"/>
          </a:p>
        </p:txBody>
      </p:sp>
      <p:sp>
        <p:nvSpPr>
          <p:cNvPr id="10" name="Shape 8"/>
          <p:cNvSpPr/>
          <p:nvPr/>
        </p:nvSpPr>
        <p:spPr>
          <a:xfrm>
            <a:off x="1581912" y="2624328"/>
            <a:ext cx="822960" cy="685800"/>
          </a:xfrm>
          <a:prstGeom prst="hexagon">
            <a:avLst/>
          </a:prstGeom>
          <a:solidFill>
            <a:srgbClr val="1B7B63"/>
          </a:solidFill>
          <a:ln w="12700">
            <a:solidFill>
              <a:srgbClr val="1B7B63"/>
            </a:solidFill>
            <a:prstDash val="solid"/>
          </a:ln>
        </p:spPr>
        <p:txBody>
          <a:bodyPr/>
          <a:lstStyle/>
          <a:p>
            <a:endParaRPr lang="en-US"/>
          </a:p>
        </p:txBody>
      </p:sp>
      <p:sp>
        <p:nvSpPr>
          <p:cNvPr id="11" name="Text 9"/>
          <p:cNvSpPr/>
          <p:nvPr/>
        </p:nvSpPr>
        <p:spPr>
          <a:xfrm>
            <a:off x="1581912" y="2834640"/>
            <a:ext cx="822960" cy="1828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033272" y="3493008"/>
            <a:ext cx="1920240" cy="256032"/>
          </a:xfrm>
          <a:prstGeom prst="rect">
            <a:avLst/>
          </a:prstGeom>
          <a:noFill/>
          <a:ln/>
        </p:spPr>
        <p:txBody>
          <a:bodyPr wrap="square" lIns="0" tIns="0" rIns="0" bIns="0" rtlCol="0" anchor="ctr"/>
          <a:lstStyle/>
          <a:p>
            <a:pPr marL="0" indent="0" algn="ctr">
              <a:buNone/>
            </a:pPr>
            <a:r>
              <a:rPr lang="en-US" sz="1450" b="1" dirty="0">
                <a:solidFill>
                  <a:srgbClr val="1A1814"/>
                </a:solidFill>
                <a:latin typeface="Calibri" pitchFamily="34" charset="0"/>
                <a:ea typeface="Calibri" pitchFamily="34" charset="-122"/>
                <a:cs typeface="Calibri" pitchFamily="34" charset="-120"/>
              </a:rPr>
              <a:t>Standardize</a:t>
            </a:r>
            <a:endParaRPr lang="en-US" sz="1450" dirty="0"/>
          </a:p>
        </p:txBody>
      </p:sp>
      <p:sp>
        <p:nvSpPr>
          <p:cNvPr id="13" name="Text 11"/>
          <p:cNvSpPr/>
          <p:nvPr/>
        </p:nvSpPr>
        <p:spPr>
          <a:xfrm>
            <a:off x="1088136" y="3886200"/>
            <a:ext cx="1810512" cy="384048"/>
          </a:xfrm>
          <a:prstGeom prst="rect">
            <a:avLst/>
          </a:prstGeom>
          <a:noFill/>
          <a:ln/>
        </p:spPr>
        <p:txBody>
          <a:bodyPr wrap="square" lIns="0" tIns="0" rIns="0" bIns="0" rtlCol="0" anchor="ctr">
            <a:normAutofit/>
          </a:bodyPr>
          <a:lstStyle/>
          <a:p>
            <a:pPr marL="0" indent="0" algn="ctr">
              <a:buNone/>
            </a:pPr>
            <a:r>
              <a:rPr lang="en-US" sz="940" dirty="0">
                <a:solidFill>
                  <a:srgbClr val="6F6861"/>
                </a:solidFill>
                <a:latin typeface="Calibri" pitchFamily="34" charset="0"/>
                <a:ea typeface="Calibri" pitchFamily="34" charset="-122"/>
                <a:cs typeface="Calibri" pitchFamily="34" charset="-120"/>
              </a:rPr>
              <a:t>Define the steps so everyone uses the same process.</a:t>
            </a:r>
            <a:endParaRPr lang="en-US" sz="940" dirty="0"/>
          </a:p>
        </p:txBody>
      </p:sp>
      <p:sp>
        <p:nvSpPr>
          <p:cNvPr id="14" name="Shape 12"/>
          <p:cNvSpPr/>
          <p:nvPr/>
        </p:nvSpPr>
        <p:spPr>
          <a:xfrm>
            <a:off x="3657600" y="2331720"/>
            <a:ext cx="2240280" cy="2240280"/>
          </a:xfrm>
          <a:prstGeom prst="roundRect">
            <a:avLst>
              <a:gd name="adj" fmla="val 3265"/>
            </a:avLst>
          </a:prstGeom>
          <a:solidFill>
            <a:srgbClr val="FFFFFF"/>
          </a:solidFill>
          <a:ln w="12700">
            <a:solidFill>
              <a:srgbClr val="E2DACF"/>
            </a:solidFill>
            <a:prstDash val="solid"/>
          </a:ln>
        </p:spPr>
        <p:txBody>
          <a:bodyPr/>
          <a:lstStyle/>
          <a:p>
            <a:endParaRPr lang="en-US"/>
          </a:p>
        </p:txBody>
      </p:sp>
      <p:sp>
        <p:nvSpPr>
          <p:cNvPr id="15" name="Shape 13"/>
          <p:cNvSpPr/>
          <p:nvPr/>
        </p:nvSpPr>
        <p:spPr>
          <a:xfrm>
            <a:off x="4370832" y="2624328"/>
            <a:ext cx="822960" cy="685800"/>
          </a:xfrm>
          <a:prstGeom prst="hexagon">
            <a:avLst/>
          </a:prstGeom>
          <a:solidFill>
            <a:srgbClr val="C8A85E"/>
          </a:solidFill>
          <a:ln w="12700">
            <a:solidFill>
              <a:srgbClr val="C8A85E"/>
            </a:solidFill>
            <a:prstDash val="solid"/>
          </a:ln>
        </p:spPr>
        <p:txBody>
          <a:bodyPr/>
          <a:lstStyle/>
          <a:p>
            <a:endParaRPr lang="en-US"/>
          </a:p>
        </p:txBody>
      </p:sp>
      <p:sp>
        <p:nvSpPr>
          <p:cNvPr id="16" name="Text 14"/>
          <p:cNvSpPr/>
          <p:nvPr/>
        </p:nvSpPr>
        <p:spPr>
          <a:xfrm>
            <a:off x="4370832" y="2834640"/>
            <a:ext cx="822960" cy="182880"/>
          </a:xfrm>
          <a:prstGeom prst="rect">
            <a:avLst/>
          </a:prstGeom>
          <a:noFill/>
          <a:ln/>
        </p:spPr>
        <p:txBody>
          <a:bodyPr wrap="square" lIns="0" tIns="0" rIns="0" bIns="0" rtlCol="0" anchor="ctr"/>
          <a:lstStyle/>
          <a:p>
            <a:pPr marL="0" indent="0" algn="ctr">
              <a:buNone/>
            </a:pPr>
            <a:r>
              <a:rPr lang="en-US" sz="1400" b="1" dirty="0">
                <a:solidFill>
                  <a:srgbClr val="12100E"/>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3822192" y="3493008"/>
            <a:ext cx="1920240" cy="256032"/>
          </a:xfrm>
          <a:prstGeom prst="rect">
            <a:avLst/>
          </a:prstGeom>
          <a:noFill/>
          <a:ln/>
        </p:spPr>
        <p:txBody>
          <a:bodyPr wrap="square" lIns="0" tIns="0" rIns="0" bIns="0" rtlCol="0" anchor="ctr"/>
          <a:lstStyle/>
          <a:p>
            <a:pPr marL="0" indent="0" algn="ctr">
              <a:buNone/>
            </a:pPr>
            <a:r>
              <a:rPr lang="en-US" sz="1450" b="1" dirty="0">
                <a:solidFill>
                  <a:srgbClr val="1A1814"/>
                </a:solidFill>
                <a:latin typeface="Calibri" pitchFamily="34" charset="0"/>
                <a:ea typeface="Calibri" pitchFamily="34" charset="-122"/>
                <a:cs typeface="Calibri" pitchFamily="34" charset="-120"/>
              </a:rPr>
              <a:t>Document</a:t>
            </a:r>
            <a:endParaRPr lang="en-US" sz="1450" dirty="0"/>
          </a:p>
        </p:txBody>
      </p:sp>
      <p:sp>
        <p:nvSpPr>
          <p:cNvPr id="18" name="Text 16"/>
          <p:cNvSpPr/>
          <p:nvPr/>
        </p:nvSpPr>
        <p:spPr>
          <a:xfrm>
            <a:off x="3877056" y="3886200"/>
            <a:ext cx="1810512" cy="384048"/>
          </a:xfrm>
          <a:prstGeom prst="rect">
            <a:avLst/>
          </a:prstGeom>
          <a:noFill/>
          <a:ln/>
        </p:spPr>
        <p:txBody>
          <a:bodyPr wrap="square" lIns="0" tIns="0" rIns="0" bIns="0" rtlCol="0" anchor="ctr">
            <a:normAutofit/>
          </a:bodyPr>
          <a:lstStyle/>
          <a:p>
            <a:pPr marL="0" indent="0" algn="ctr">
              <a:buNone/>
            </a:pPr>
            <a:r>
              <a:rPr lang="en-US" sz="940" dirty="0">
                <a:solidFill>
                  <a:srgbClr val="6F6861"/>
                </a:solidFill>
                <a:latin typeface="Calibri" pitchFamily="34" charset="0"/>
                <a:ea typeface="Calibri" pitchFamily="34" charset="-122"/>
                <a:cs typeface="Calibri" pitchFamily="34" charset="-120"/>
              </a:rPr>
              <a:t>Capture observations, follow-ups, and handoffs responsibly.</a:t>
            </a:r>
            <a:endParaRPr lang="en-US" sz="940" dirty="0"/>
          </a:p>
        </p:txBody>
      </p:sp>
      <p:sp>
        <p:nvSpPr>
          <p:cNvPr id="19" name="Shape 17"/>
          <p:cNvSpPr/>
          <p:nvPr/>
        </p:nvSpPr>
        <p:spPr>
          <a:xfrm>
            <a:off x="6446520" y="2331720"/>
            <a:ext cx="2240280" cy="2240280"/>
          </a:xfrm>
          <a:prstGeom prst="roundRect">
            <a:avLst>
              <a:gd name="adj" fmla="val 3265"/>
            </a:avLst>
          </a:prstGeom>
          <a:solidFill>
            <a:srgbClr val="FFFFFF"/>
          </a:solidFill>
          <a:ln w="12700">
            <a:solidFill>
              <a:srgbClr val="E2DACF"/>
            </a:solidFill>
            <a:prstDash val="solid"/>
          </a:ln>
        </p:spPr>
        <p:txBody>
          <a:bodyPr/>
          <a:lstStyle/>
          <a:p>
            <a:endParaRPr lang="en-US"/>
          </a:p>
        </p:txBody>
      </p:sp>
      <p:sp>
        <p:nvSpPr>
          <p:cNvPr id="20" name="Shape 18"/>
          <p:cNvSpPr/>
          <p:nvPr/>
        </p:nvSpPr>
        <p:spPr>
          <a:xfrm>
            <a:off x="7159752" y="2624328"/>
            <a:ext cx="822960" cy="685800"/>
          </a:xfrm>
          <a:prstGeom prst="hexagon">
            <a:avLst/>
          </a:prstGeom>
          <a:solidFill>
            <a:srgbClr val="1B7B63"/>
          </a:solidFill>
          <a:ln w="12700">
            <a:solidFill>
              <a:srgbClr val="1B7B63"/>
            </a:solidFill>
            <a:prstDash val="solid"/>
          </a:ln>
        </p:spPr>
        <p:txBody>
          <a:bodyPr/>
          <a:lstStyle/>
          <a:p>
            <a:endParaRPr lang="en-US"/>
          </a:p>
        </p:txBody>
      </p:sp>
      <p:sp>
        <p:nvSpPr>
          <p:cNvPr id="21" name="Text 19"/>
          <p:cNvSpPr/>
          <p:nvPr/>
        </p:nvSpPr>
        <p:spPr>
          <a:xfrm>
            <a:off x="7159752" y="2834640"/>
            <a:ext cx="822960" cy="1828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6611112" y="3493008"/>
            <a:ext cx="1920240" cy="256032"/>
          </a:xfrm>
          <a:prstGeom prst="rect">
            <a:avLst/>
          </a:prstGeom>
          <a:noFill/>
          <a:ln/>
        </p:spPr>
        <p:txBody>
          <a:bodyPr wrap="square" lIns="0" tIns="0" rIns="0" bIns="0" rtlCol="0" anchor="ctr"/>
          <a:lstStyle/>
          <a:p>
            <a:pPr marL="0" indent="0" algn="ctr">
              <a:buNone/>
            </a:pPr>
            <a:r>
              <a:rPr lang="en-US" sz="1450" b="1" dirty="0">
                <a:solidFill>
                  <a:srgbClr val="1A1814"/>
                </a:solidFill>
                <a:latin typeface="Calibri" pitchFamily="34" charset="0"/>
                <a:ea typeface="Calibri" pitchFamily="34" charset="-122"/>
                <a:cs typeface="Calibri" pitchFamily="34" charset="-120"/>
              </a:rPr>
              <a:t>Review</a:t>
            </a:r>
            <a:endParaRPr lang="en-US" sz="1450" dirty="0"/>
          </a:p>
        </p:txBody>
      </p:sp>
      <p:sp>
        <p:nvSpPr>
          <p:cNvPr id="23" name="Text 21"/>
          <p:cNvSpPr/>
          <p:nvPr/>
        </p:nvSpPr>
        <p:spPr>
          <a:xfrm>
            <a:off x="6665976" y="3886200"/>
            <a:ext cx="1810512" cy="384048"/>
          </a:xfrm>
          <a:prstGeom prst="rect">
            <a:avLst/>
          </a:prstGeom>
          <a:noFill/>
          <a:ln/>
        </p:spPr>
        <p:txBody>
          <a:bodyPr wrap="square" lIns="0" tIns="0" rIns="0" bIns="0" rtlCol="0" anchor="ctr">
            <a:normAutofit/>
          </a:bodyPr>
          <a:lstStyle/>
          <a:p>
            <a:pPr marL="0" indent="0" algn="ctr">
              <a:buNone/>
            </a:pPr>
            <a:r>
              <a:rPr lang="en-US" sz="940" dirty="0">
                <a:solidFill>
                  <a:srgbClr val="6F6861"/>
                </a:solidFill>
                <a:latin typeface="Calibri" pitchFamily="34" charset="0"/>
                <a:ea typeface="Calibri" pitchFamily="34" charset="-122"/>
                <a:cs typeface="Calibri" pitchFamily="34" charset="-120"/>
              </a:rPr>
              <a:t>Leadership can see what is working and where people fall off.</a:t>
            </a:r>
            <a:endParaRPr lang="en-US" sz="940" dirty="0"/>
          </a:p>
        </p:txBody>
      </p:sp>
      <p:sp>
        <p:nvSpPr>
          <p:cNvPr id="24" name="Shape 22"/>
          <p:cNvSpPr/>
          <p:nvPr/>
        </p:nvSpPr>
        <p:spPr>
          <a:xfrm>
            <a:off x="9235440" y="2331720"/>
            <a:ext cx="2240280" cy="2240280"/>
          </a:xfrm>
          <a:prstGeom prst="roundRect">
            <a:avLst>
              <a:gd name="adj" fmla="val 3265"/>
            </a:avLst>
          </a:prstGeom>
          <a:solidFill>
            <a:srgbClr val="FFFFFF"/>
          </a:solidFill>
          <a:ln w="12700">
            <a:solidFill>
              <a:srgbClr val="E2DACF"/>
            </a:solidFill>
            <a:prstDash val="solid"/>
          </a:ln>
        </p:spPr>
        <p:txBody>
          <a:bodyPr/>
          <a:lstStyle/>
          <a:p>
            <a:endParaRPr lang="en-US"/>
          </a:p>
        </p:txBody>
      </p:sp>
      <p:sp>
        <p:nvSpPr>
          <p:cNvPr id="25" name="Shape 23"/>
          <p:cNvSpPr/>
          <p:nvPr/>
        </p:nvSpPr>
        <p:spPr>
          <a:xfrm>
            <a:off x="9948672" y="2624328"/>
            <a:ext cx="822960" cy="685800"/>
          </a:xfrm>
          <a:prstGeom prst="hexagon">
            <a:avLst/>
          </a:prstGeom>
          <a:solidFill>
            <a:srgbClr val="C8A85E"/>
          </a:solidFill>
          <a:ln w="12700">
            <a:solidFill>
              <a:srgbClr val="C8A85E"/>
            </a:solidFill>
            <a:prstDash val="solid"/>
          </a:ln>
        </p:spPr>
        <p:txBody>
          <a:bodyPr/>
          <a:lstStyle/>
          <a:p>
            <a:endParaRPr lang="en-US"/>
          </a:p>
        </p:txBody>
      </p:sp>
      <p:sp>
        <p:nvSpPr>
          <p:cNvPr id="26" name="Text 24"/>
          <p:cNvSpPr/>
          <p:nvPr/>
        </p:nvSpPr>
        <p:spPr>
          <a:xfrm>
            <a:off x="9948672" y="2834640"/>
            <a:ext cx="822960" cy="182880"/>
          </a:xfrm>
          <a:prstGeom prst="rect">
            <a:avLst/>
          </a:prstGeom>
          <a:noFill/>
          <a:ln/>
        </p:spPr>
        <p:txBody>
          <a:bodyPr wrap="square" lIns="0" tIns="0" rIns="0" bIns="0" rtlCol="0" anchor="ctr"/>
          <a:lstStyle/>
          <a:p>
            <a:pPr marL="0" indent="0" algn="ctr">
              <a:buNone/>
            </a:pPr>
            <a:r>
              <a:rPr lang="en-US" sz="1400" b="1" dirty="0">
                <a:solidFill>
                  <a:srgbClr val="12100E"/>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9400032" y="3493008"/>
            <a:ext cx="1920240" cy="256032"/>
          </a:xfrm>
          <a:prstGeom prst="rect">
            <a:avLst/>
          </a:prstGeom>
          <a:noFill/>
          <a:ln/>
        </p:spPr>
        <p:txBody>
          <a:bodyPr wrap="square" lIns="0" tIns="0" rIns="0" bIns="0" rtlCol="0" anchor="ctr"/>
          <a:lstStyle/>
          <a:p>
            <a:pPr marL="0" indent="0" algn="ctr">
              <a:buNone/>
            </a:pPr>
            <a:r>
              <a:rPr lang="en-US" sz="1450" b="1" dirty="0">
                <a:solidFill>
                  <a:srgbClr val="1A1814"/>
                </a:solidFill>
                <a:latin typeface="Calibri" pitchFamily="34" charset="0"/>
                <a:ea typeface="Calibri" pitchFamily="34" charset="-122"/>
                <a:cs typeface="Calibri" pitchFamily="34" charset="-120"/>
              </a:rPr>
              <a:t>Improve</a:t>
            </a:r>
            <a:endParaRPr lang="en-US" sz="1450" dirty="0"/>
          </a:p>
        </p:txBody>
      </p:sp>
      <p:sp>
        <p:nvSpPr>
          <p:cNvPr id="28" name="Text 26"/>
          <p:cNvSpPr/>
          <p:nvPr/>
        </p:nvSpPr>
        <p:spPr>
          <a:xfrm>
            <a:off x="9454896" y="3886200"/>
            <a:ext cx="1810512" cy="384048"/>
          </a:xfrm>
          <a:prstGeom prst="rect">
            <a:avLst/>
          </a:prstGeom>
          <a:noFill/>
          <a:ln/>
        </p:spPr>
        <p:txBody>
          <a:bodyPr wrap="square" lIns="0" tIns="0" rIns="0" bIns="0" rtlCol="0" anchor="ctr">
            <a:normAutofit/>
          </a:bodyPr>
          <a:lstStyle/>
          <a:p>
            <a:pPr marL="0" indent="0" algn="ctr">
              <a:buNone/>
            </a:pPr>
            <a:r>
              <a:rPr lang="en-US" sz="940" dirty="0">
                <a:solidFill>
                  <a:srgbClr val="6F6861"/>
                </a:solidFill>
                <a:latin typeface="Calibri" pitchFamily="34" charset="0"/>
                <a:ea typeface="Calibri" pitchFamily="34" charset="-122"/>
                <a:cs typeface="Calibri" pitchFamily="34" charset="-120"/>
              </a:rPr>
              <a:t>Refine the system after each event and feedback cycle.</a:t>
            </a:r>
            <a:endParaRPr lang="en-US" sz="940" dirty="0"/>
          </a:p>
        </p:txBody>
      </p:sp>
      <p:sp>
        <p:nvSpPr>
          <p:cNvPr id="29" name="Text 27"/>
          <p:cNvSpPr/>
          <p:nvPr/>
        </p:nvSpPr>
        <p:spPr>
          <a:xfrm>
            <a:off x="1188720" y="5230368"/>
            <a:ext cx="9829800" cy="320040"/>
          </a:xfrm>
          <a:prstGeom prst="rect">
            <a:avLst/>
          </a:prstGeom>
          <a:noFill/>
          <a:ln/>
        </p:spPr>
        <p:txBody>
          <a:bodyPr wrap="square" lIns="0" tIns="0" rIns="0" bIns="0" rtlCol="0" anchor="ctr"/>
          <a:lstStyle/>
          <a:p>
            <a:pPr marL="0" indent="0" algn="ctr">
              <a:buNone/>
            </a:pPr>
            <a:r>
              <a:rPr lang="en-US" sz="1650" b="1" dirty="0">
                <a:solidFill>
                  <a:srgbClr val="1A1814"/>
                </a:solidFill>
                <a:latin typeface="Calibri" pitchFamily="34" charset="0"/>
                <a:ea typeface="Calibri" pitchFamily="34" charset="-122"/>
                <a:cs typeface="Calibri" pitchFamily="34" charset="-120"/>
              </a:rPr>
              <a:t>The OPP is not cold bureaucracy. It is consistency that protects care.</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CHECKS + BALANCES</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Failsafes build trust with people and leadership</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13</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749808" y="160020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9" name="Shape 7"/>
          <p:cNvSpPr/>
          <p:nvPr/>
        </p:nvSpPr>
        <p:spPr>
          <a:xfrm>
            <a:off x="749808" y="1600200"/>
            <a:ext cx="73152" cy="960120"/>
          </a:xfrm>
          <a:prstGeom prst="rect">
            <a:avLst/>
          </a:prstGeom>
          <a:solidFill>
            <a:srgbClr val="1B7B63"/>
          </a:solidFill>
          <a:ln w="12700">
            <a:solidFill>
              <a:srgbClr val="1B7B63"/>
            </a:solidFill>
            <a:prstDash val="solid"/>
          </a:ln>
        </p:spPr>
        <p:txBody>
          <a:bodyPr/>
          <a:lstStyle/>
          <a:p>
            <a:endParaRPr lang="en-US"/>
          </a:p>
        </p:txBody>
      </p:sp>
      <p:sp>
        <p:nvSpPr>
          <p:cNvPr id="10" name="Text 8"/>
          <p:cNvSpPr/>
          <p:nvPr/>
        </p:nvSpPr>
        <p:spPr>
          <a:xfrm>
            <a:off x="978408" y="175564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No pressure tactics</a:t>
            </a:r>
            <a:endParaRPr lang="en-US" sz="1300" dirty="0"/>
          </a:p>
        </p:txBody>
      </p:sp>
      <p:sp>
        <p:nvSpPr>
          <p:cNvPr id="11" name="Text 9"/>
          <p:cNvSpPr/>
          <p:nvPr/>
        </p:nvSpPr>
        <p:spPr>
          <a:xfrm>
            <a:off x="978408" y="213055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People are invited, not chased.</a:t>
            </a:r>
            <a:endParaRPr lang="en-US" sz="1050" dirty="0"/>
          </a:p>
        </p:txBody>
      </p:sp>
      <p:sp>
        <p:nvSpPr>
          <p:cNvPr id="12" name="Shape 10"/>
          <p:cNvSpPr/>
          <p:nvPr/>
        </p:nvSpPr>
        <p:spPr>
          <a:xfrm>
            <a:off x="6327648" y="160020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13" name="Shape 11"/>
          <p:cNvSpPr/>
          <p:nvPr/>
        </p:nvSpPr>
        <p:spPr>
          <a:xfrm>
            <a:off x="6327648" y="1600200"/>
            <a:ext cx="73152" cy="960120"/>
          </a:xfrm>
          <a:prstGeom prst="rect">
            <a:avLst/>
          </a:prstGeom>
          <a:solidFill>
            <a:srgbClr val="C8A85E"/>
          </a:solidFill>
          <a:ln w="12700">
            <a:solidFill>
              <a:srgbClr val="C8A85E"/>
            </a:solidFill>
            <a:prstDash val="solid"/>
          </a:ln>
        </p:spPr>
        <p:txBody>
          <a:bodyPr/>
          <a:lstStyle/>
          <a:p>
            <a:endParaRPr lang="en-US"/>
          </a:p>
        </p:txBody>
      </p:sp>
      <p:sp>
        <p:nvSpPr>
          <p:cNvPr id="14" name="Text 12"/>
          <p:cNvSpPr/>
          <p:nvPr/>
        </p:nvSpPr>
        <p:spPr>
          <a:xfrm>
            <a:off x="6556248" y="175564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Privacy first</a:t>
            </a:r>
            <a:endParaRPr lang="en-US" sz="1300" dirty="0"/>
          </a:p>
        </p:txBody>
      </p:sp>
      <p:sp>
        <p:nvSpPr>
          <p:cNvPr id="15" name="Text 13"/>
          <p:cNvSpPr/>
          <p:nvPr/>
        </p:nvSpPr>
        <p:spPr>
          <a:xfrm>
            <a:off x="6556248" y="213055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Sensitive information is protected and minimized.</a:t>
            </a:r>
            <a:endParaRPr lang="en-US" sz="1050" dirty="0"/>
          </a:p>
        </p:txBody>
      </p:sp>
      <p:sp>
        <p:nvSpPr>
          <p:cNvPr id="16" name="Shape 14"/>
          <p:cNvSpPr/>
          <p:nvPr/>
        </p:nvSpPr>
        <p:spPr>
          <a:xfrm>
            <a:off x="749808" y="283464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17" name="Shape 15"/>
          <p:cNvSpPr/>
          <p:nvPr/>
        </p:nvSpPr>
        <p:spPr>
          <a:xfrm>
            <a:off x="749808" y="2834640"/>
            <a:ext cx="73152" cy="960120"/>
          </a:xfrm>
          <a:prstGeom prst="rect">
            <a:avLst/>
          </a:prstGeom>
          <a:solidFill>
            <a:srgbClr val="1B7B63"/>
          </a:solidFill>
          <a:ln w="12700">
            <a:solidFill>
              <a:srgbClr val="1B7B63"/>
            </a:solidFill>
            <a:prstDash val="solid"/>
          </a:ln>
        </p:spPr>
        <p:txBody>
          <a:bodyPr/>
          <a:lstStyle/>
          <a:p>
            <a:endParaRPr lang="en-US"/>
          </a:p>
        </p:txBody>
      </p:sp>
      <p:sp>
        <p:nvSpPr>
          <p:cNvPr id="18" name="Text 16"/>
          <p:cNvSpPr/>
          <p:nvPr/>
        </p:nvSpPr>
        <p:spPr>
          <a:xfrm>
            <a:off x="978408" y="299008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Leadership escalation</a:t>
            </a:r>
            <a:endParaRPr lang="en-US" sz="1300" dirty="0"/>
          </a:p>
        </p:txBody>
      </p:sp>
      <p:sp>
        <p:nvSpPr>
          <p:cNvPr id="19" name="Text 17"/>
          <p:cNvSpPr/>
          <p:nvPr/>
        </p:nvSpPr>
        <p:spPr>
          <a:xfrm>
            <a:off x="978408" y="336499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Personal or pastoral concerns are not handled alone.</a:t>
            </a:r>
            <a:endParaRPr lang="en-US" sz="1050" dirty="0"/>
          </a:p>
        </p:txBody>
      </p:sp>
      <p:sp>
        <p:nvSpPr>
          <p:cNvPr id="20" name="Shape 18"/>
          <p:cNvSpPr/>
          <p:nvPr/>
        </p:nvSpPr>
        <p:spPr>
          <a:xfrm>
            <a:off x="6327648" y="283464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21" name="Shape 19"/>
          <p:cNvSpPr/>
          <p:nvPr/>
        </p:nvSpPr>
        <p:spPr>
          <a:xfrm>
            <a:off x="6327648" y="2834640"/>
            <a:ext cx="73152" cy="960120"/>
          </a:xfrm>
          <a:prstGeom prst="rect">
            <a:avLst/>
          </a:prstGeom>
          <a:solidFill>
            <a:srgbClr val="C8A85E"/>
          </a:solidFill>
          <a:ln w="12700">
            <a:solidFill>
              <a:srgbClr val="C8A85E"/>
            </a:solidFill>
            <a:prstDash val="solid"/>
          </a:ln>
        </p:spPr>
        <p:txBody>
          <a:bodyPr/>
          <a:lstStyle/>
          <a:p>
            <a:endParaRPr lang="en-US"/>
          </a:p>
        </p:txBody>
      </p:sp>
      <p:sp>
        <p:nvSpPr>
          <p:cNvPr id="22" name="Text 20"/>
          <p:cNvSpPr/>
          <p:nvPr/>
        </p:nvSpPr>
        <p:spPr>
          <a:xfrm>
            <a:off x="6556248" y="299008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Reviewable follow-up</a:t>
            </a:r>
            <a:endParaRPr lang="en-US" sz="1300" dirty="0"/>
          </a:p>
        </p:txBody>
      </p:sp>
      <p:sp>
        <p:nvSpPr>
          <p:cNvPr id="23" name="Text 21"/>
          <p:cNvSpPr/>
          <p:nvPr/>
        </p:nvSpPr>
        <p:spPr>
          <a:xfrm>
            <a:off x="6556248" y="336499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Actions and gaps can be checked without guessing.</a:t>
            </a:r>
            <a:endParaRPr lang="en-US" sz="1050" dirty="0"/>
          </a:p>
        </p:txBody>
      </p:sp>
      <p:sp>
        <p:nvSpPr>
          <p:cNvPr id="24" name="Shape 22"/>
          <p:cNvSpPr/>
          <p:nvPr/>
        </p:nvSpPr>
        <p:spPr>
          <a:xfrm>
            <a:off x="749808" y="406908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25" name="Shape 23"/>
          <p:cNvSpPr/>
          <p:nvPr/>
        </p:nvSpPr>
        <p:spPr>
          <a:xfrm>
            <a:off x="749808" y="4069080"/>
            <a:ext cx="73152" cy="960120"/>
          </a:xfrm>
          <a:prstGeom prst="rect">
            <a:avLst/>
          </a:prstGeom>
          <a:solidFill>
            <a:srgbClr val="1B7B63"/>
          </a:solidFill>
          <a:ln w="12700">
            <a:solidFill>
              <a:srgbClr val="1B7B63"/>
            </a:solidFill>
            <a:prstDash val="solid"/>
          </a:ln>
        </p:spPr>
        <p:txBody>
          <a:bodyPr/>
          <a:lstStyle/>
          <a:p>
            <a:endParaRPr lang="en-US"/>
          </a:p>
        </p:txBody>
      </p:sp>
      <p:sp>
        <p:nvSpPr>
          <p:cNvPr id="26" name="Text 24"/>
          <p:cNvSpPr/>
          <p:nvPr/>
        </p:nvSpPr>
        <p:spPr>
          <a:xfrm>
            <a:off x="978408" y="422452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Fit over speed</a:t>
            </a:r>
            <a:endParaRPr lang="en-US" sz="1300" dirty="0"/>
          </a:p>
        </p:txBody>
      </p:sp>
      <p:sp>
        <p:nvSpPr>
          <p:cNvPr id="27" name="Text 25"/>
          <p:cNvSpPr/>
          <p:nvPr/>
        </p:nvSpPr>
        <p:spPr>
          <a:xfrm>
            <a:off x="978408" y="459943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A thoughtful match beats a rushed placement.</a:t>
            </a:r>
            <a:endParaRPr lang="en-US" sz="1050" dirty="0"/>
          </a:p>
        </p:txBody>
      </p:sp>
      <p:sp>
        <p:nvSpPr>
          <p:cNvPr id="28" name="Shape 26"/>
          <p:cNvSpPr/>
          <p:nvPr/>
        </p:nvSpPr>
        <p:spPr>
          <a:xfrm>
            <a:off x="6327648" y="4069080"/>
            <a:ext cx="49834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29" name="Shape 27"/>
          <p:cNvSpPr/>
          <p:nvPr/>
        </p:nvSpPr>
        <p:spPr>
          <a:xfrm>
            <a:off x="6327648" y="4069080"/>
            <a:ext cx="73152" cy="960120"/>
          </a:xfrm>
          <a:prstGeom prst="rect">
            <a:avLst/>
          </a:prstGeom>
          <a:solidFill>
            <a:srgbClr val="C8A85E"/>
          </a:solidFill>
          <a:ln w="12700">
            <a:solidFill>
              <a:srgbClr val="C8A85E"/>
            </a:solidFill>
            <a:prstDash val="solid"/>
          </a:ln>
        </p:spPr>
        <p:txBody>
          <a:bodyPr/>
          <a:lstStyle/>
          <a:p>
            <a:endParaRPr lang="en-US"/>
          </a:p>
        </p:txBody>
      </p:sp>
      <p:sp>
        <p:nvSpPr>
          <p:cNvPr id="30" name="Text 28"/>
          <p:cNvSpPr/>
          <p:nvPr/>
        </p:nvSpPr>
        <p:spPr>
          <a:xfrm>
            <a:off x="6556248" y="4224528"/>
            <a:ext cx="45994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Continuous improvement</a:t>
            </a:r>
            <a:endParaRPr lang="en-US" sz="1300" dirty="0"/>
          </a:p>
        </p:txBody>
      </p:sp>
      <p:sp>
        <p:nvSpPr>
          <p:cNvPr id="31" name="Text 29"/>
          <p:cNvSpPr/>
          <p:nvPr/>
        </p:nvSpPr>
        <p:spPr>
          <a:xfrm>
            <a:off x="6556248" y="4599432"/>
            <a:ext cx="4572000" cy="30175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The process gets refined after each cycle.</a:t>
            </a:r>
            <a:endParaRPr lang="en-US" sz="1050" dirty="0"/>
          </a:p>
        </p:txBody>
      </p:sp>
      <p:sp>
        <p:nvSpPr>
          <p:cNvPr id="32" name="Text 30"/>
          <p:cNvSpPr/>
          <p:nvPr/>
        </p:nvSpPr>
        <p:spPr>
          <a:xfrm>
            <a:off x="914400" y="5532120"/>
            <a:ext cx="10332720" cy="320040"/>
          </a:xfrm>
          <a:prstGeom prst="rect">
            <a:avLst/>
          </a:prstGeom>
          <a:noFill/>
          <a:ln/>
        </p:spPr>
        <p:txBody>
          <a:bodyPr wrap="square" lIns="0" tIns="0" rIns="0" bIns="0" rtlCol="0" anchor="ctr"/>
          <a:lstStyle/>
          <a:p>
            <a:pPr marL="0" indent="0" algn="ctr">
              <a:buNone/>
            </a:pPr>
            <a:r>
              <a:rPr lang="en-US" sz="1630" b="1" dirty="0">
                <a:solidFill>
                  <a:srgbClr val="1A1814"/>
                </a:solidFill>
                <a:latin typeface="Calibri" pitchFamily="34" charset="0"/>
                <a:ea typeface="Calibri" pitchFamily="34" charset="-122"/>
                <a:cs typeface="Calibri" pitchFamily="34" charset="-120"/>
              </a:rPr>
              <a:t>The goal is a system leadership can trust and volunteers can execute without overstepping.</a:t>
            </a:r>
            <a:endParaRPr lang="en-US" sz="16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HUMAN-CENTERED MINISTRY SYSTEMS</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Systems should create more room for care</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14</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Text 6"/>
          <p:cNvSpPr/>
          <p:nvPr/>
        </p:nvSpPr>
        <p:spPr>
          <a:xfrm>
            <a:off x="960120" y="1463040"/>
            <a:ext cx="10332720" cy="347472"/>
          </a:xfrm>
          <a:prstGeom prst="rect">
            <a:avLst/>
          </a:prstGeom>
          <a:noFill/>
          <a:ln/>
        </p:spPr>
        <p:txBody>
          <a:bodyPr wrap="square" lIns="0" tIns="0" rIns="0" bIns="0" rtlCol="0" anchor="ctr"/>
          <a:lstStyle/>
          <a:p>
            <a:pPr marL="0" indent="0" algn="ctr">
              <a:buNone/>
            </a:pPr>
            <a:r>
              <a:rPr lang="en-US" sz="1700" b="1" dirty="0">
                <a:solidFill>
                  <a:srgbClr val="1A1814"/>
                </a:solidFill>
                <a:latin typeface="Calibri" pitchFamily="34" charset="0"/>
                <a:ea typeface="Calibri" pitchFamily="34" charset="-122"/>
                <a:cs typeface="Calibri" pitchFamily="34" charset="-120"/>
              </a:rPr>
              <a:t>Technology supports ministry. It does not replace relationship, discernment, or spiritual leadership.</a:t>
            </a:r>
            <a:endParaRPr lang="en-US" sz="1700" dirty="0"/>
          </a:p>
        </p:txBody>
      </p:sp>
      <p:sp>
        <p:nvSpPr>
          <p:cNvPr id="9" name="Shape 7"/>
          <p:cNvSpPr/>
          <p:nvPr/>
        </p:nvSpPr>
        <p:spPr>
          <a:xfrm>
            <a:off x="914400" y="2148840"/>
            <a:ext cx="4800600" cy="2148840"/>
          </a:xfrm>
          <a:prstGeom prst="roundRect">
            <a:avLst>
              <a:gd name="adj" fmla="val 3404"/>
            </a:avLst>
          </a:prstGeom>
          <a:solidFill>
            <a:srgbClr val="FFF8F6"/>
          </a:solidFill>
          <a:ln w="11430">
            <a:solidFill>
              <a:srgbClr val="E6DFD2"/>
            </a:solidFill>
            <a:prstDash val="solid"/>
          </a:ln>
        </p:spPr>
        <p:txBody>
          <a:bodyPr/>
          <a:lstStyle/>
          <a:p>
            <a:endParaRPr lang="en-US"/>
          </a:p>
        </p:txBody>
      </p:sp>
      <p:sp>
        <p:nvSpPr>
          <p:cNvPr id="10" name="Shape 8"/>
          <p:cNvSpPr/>
          <p:nvPr/>
        </p:nvSpPr>
        <p:spPr>
          <a:xfrm>
            <a:off x="914400" y="2148840"/>
            <a:ext cx="73152" cy="2148840"/>
          </a:xfrm>
          <a:prstGeom prst="rect">
            <a:avLst/>
          </a:prstGeom>
          <a:solidFill>
            <a:srgbClr val="A84E42"/>
          </a:solidFill>
          <a:ln w="12700">
            <a:solidFill>
              <a:srgbClr val="A84E42"/>
            </a:solidFill>
            <a:prstDash val="solid"/>
          </a:ln>
        </p:spPr>
        <p:txBody>
          <a:bodyPr/>
          <a:lstStyle/>
          <a:p>
            <a:endParaRPr lang="en-US"/>
          </a:p>
        </p:txBody>
      </p:sp>
      <p:sp>
        <p:nvSpPr>
          <p:cNvPr id="11" name="Text 9"/>
          <p:cNvSpPr/>
          <p:nvPr/>
        </p:nvSpPr>
        <p:spPr>
          <a:xfrm>
            <a:off x="1143000" y="2304288"/>
            <a:ext cx="4416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Without structure</a:t>
            </a:r>
            <a:endParaRPr lang="en-US" sz="1300" dirty="0"/>
          </a:p>
        </p:txBody>
      </p:sp>
      <p:sp>
        <p:nvSpPr>
          <p:cNvPr id="12" name="Text 10"/>
          <p:cNvSpPr/>
          <p:nvPr/>
        </p:nvSpPr>
        <p:spPr>
          <a:xfrm>
            <a:off x="1170432" y="2679192"/>
            <a:ext cx="4361688" cy="149047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Names get forgotten</a:t>
            </a:r>
            <a:endParaRPr lang="en-US" sz="1020" dirty="0"/>
          </a:p>
          <a:p>
            <a:r>
              <a:rPr lang="en-US" sz="1020" dirty="0">
                <a:solidFill>
                  <a:srgbClr val="6F6861"/>
                </a:solidFill>
                <a:latin typeface="Calibri" pitchFamily="34" charset="0"/>
                <a:ea typeface="Calibri" pitchFamily="34" charset="-122"/>
                <a:cs typeface="Calibri" pitchFamily="34" charset="-120"/>
              </a:rPr>
              <a:t>Follow-up depends on memory</a:t>
            </a:r>
            <a:endParaRPr lang="en-US" sz="1020" dirty="0"/>
          </a:p>
          <a:p>
            <a:r>
              <a:rPr lang="en-US" sz="1020" dirty="0">
                <a:solidFill>
                  <a:srgbClr val="6F6861"/>
                </a:solidFill>
                <a:latin typeface="Calibri" pitchFamily="34" charset="0"/>
                <a:ea typeface="Calibri" pitchFamily="34" charset="-122"/>
                <a:cs typeface="Calibri" pitchFamily="34" charset="-120"/>
              </a:rPr>
              <a:t>Volunteers are unsure what to do</a:t>
            </a:r>
            <a:endParaRPr lang="en-US" sz="1020" dirty="0"/>
          </a:p>
          <a:p>
            <a:r>
              <a:rPr lang="en-US" sz="1020" dirty="0">
                <a:solidFill>
                  <a:srgbClr val="6F6861"/>
                </a:solidFill>
                <a:latin typeface="Calibri" pitchFamily="34" charset="0"/>
                <a:ea typeface="Calibri" pitchFamily="34" charset="-122"/>
                <a:cs typeface="Calibri" pitchFamily="34" charset="-120"/>
              </a:rPr>
              <a:t>Leadership has limited visibility</a:t>
            </a:r>
            <a:endParaRPr lang="en-US" sz="1020" dirty="0"/>
          </a:p>
        </p:txBody>
      </p:sp>
      <p:sp>
        <p:nvSpPr>
          <p:cNvPr id="13" name="Shape 11"/>
          <p:cNvSpPr/>
          <p:nvPr/>
        </p:nvSpPr>
        <p:spPr>
          <a:xfrm>
            <a:off x="6473952" y="2148840"/>
            <a:ext cx="4800600" cy="2148840"/>
          </a:xfrm>
          <a:prstGeom prst="roundRect">
            <a:avLst>
              <a:gd name="adj" fmla="val 3404"/>
            </a:avLst>
          </a:prstGeom>
          <a:solidFill>
            <a:srgbClr val="F2FBF8"/>
          </a:solidFill>
          <a:ln w="11430">
            <a:solidFill>
              <a:srgbClr val="E6DFD2"/>
            </a:solidFill>
            <a:prstDash val="solid"/>
          </a:ln>
        </p:spPr>
        <p:txBody>
          <a:bodyPr/>
          <a:lstStyle/>
          <a:p>
            <a:endParaRPr lang="en-US"/>
          </a:p>
        </p:txBody>
      </p:sp>
      <p:sp>
        <p:nvSpPr>
          <p:cNvPr id="14" name="Shape 12"/>
          <p:cNvSpPr/>
          <p:nvPr/>
        </p:nvSpPr>
        <p:spPr>
          <a:xfrm>
            <a:off x="6473952" y="2148840"/>
            <a:ext cx="73152" cy="2148840"/>
          </a:xfrm>
          <a:prstGeom prst="rect">
            <a:avLst/>
          </a:prstGeom>
          <a:solidFill>
            <a:srgbClr val="1B7B63"/>
          </a:solidFill>
          <a:ln w="12700">
            <a:solidFill>
              <a:srgbClr val="1B7B63"/>
            </a:solidFill>
            <a:prstDash val="solid"/>
          </a:ln>
        </p:spPr>
        <p:txBody>
          <a:bodyPr/>
          <a:lstStyle/>
          <a:p>
            <a:endParaRPr lang="en-US"/>
          </a:p>
        </p:txBody>
      </p:sp>
      <p:sp>
        <p:nvSpPr>
          <p:cNvPr id="15" name="Text 13"/>
          <p:cNvSpPr/>
          <p:nvPr/>
        </p:nvSpPr>
        <p:spPr>
          <a:xfrm>
            <a:off x="6702552" y="2304288"/>
            <a:ext cx="441655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With healthy systems</a:t>
            </a:r>
            <a:endParaRPr lang="en-US" sz="1300" dirty="0"/>
          </a:p>
        </p:txBody>
      </p:sp>
      <p:sp>
        <p:nvSpPr>
          <p:cNvPr id="16" name="Text 14"/>
          <p:cNvSpPr/>
          <p:nvPr/>
        </p:nvSpPr>
        <p:spPr>
          <a:xfrm>
            <a:off x="6729984" y="2679192"/>
            <a:ext cx="4361688" cy="149047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People are remembered</a:t>
            </a:r>
            <a:endParaRPr lang="en-US" sz="1020" dirty="0"/>
          </a:p>
          <a:p>
            <a:r>
              <a:rPr lang="en-US" sz="1020" dirty="0">
                <a:solidFill>
                  <a:srgbClr val="6F6861"/>
                </a:solidFill>
                <a:latin typeface="Calibri" pitchFamily="34" charset="0"/>
                <a:ea typeface="Calibri" pitchFamily="34" charset="-122"/>
                <a:cs typeface="Calibri" pitchFamily="34" charset="-120"/>
              </a:rPr>
              <a:t>Follow-up becomes consistent</a:t>
            </a:r>
            <a:endParaRPr lang="en-US" sz="1020" dirty="0"/>
          </a:p>
          <a:p>
            <a:r>
              <a:rPr lang="en-US" sz="1020" dirty="0">
                <a:solidFill>
                  <a:srgbClr val="6F6861"/>
                </a:solidFill>
                <a:latin typeface="Calibri" pitchFamily="34" charset="0"/>
                <a:ea typeface="Calibri" pitchFamily="34" charset="-122"/>
                <a:cs typeface="Calibri" pitchFamily="34" charset="-120"/>
              </a:rPr>
              <a:t>Volunteers know their lane</a:t>
            </a:r>
            <a:endParaRPr lang="en-US" sz="1020" dirty="0"/>
          </a:p>
          <a:p>
            <a:r>
              <a:rPr lang="en-US" sz="1020" dirty="0">
                <a:solidFill>
                  <a:srgbClr val="6F6861"/>
                </a:solidFill>
                <a:latin typeface="Calibri" pitchFamily="34" charset="0"/>
                <a:ea typeface="Calibri" pitchFamily="34" charset="-122"/>
                <a:cs typeface="Calibri" pitchFamily="34" charset="-120"/>
              </a:rPr>
              <a:t>Leadership can review and refine</a:t>
            </a:r>
            <a:endParaRPr lang="en-US" sz="1020" dirty="0"/>
          </a:p>
        </p:txBody>
      </p:sp>
      <p:sp>
        <p:nvSpPr>
          <p:cNvPr id="17" name="Shape 15"/>
          <p:cNvSpPr/>
          <p:nvPr/>
        </p:nvSpPr>
        <p:spPr>
          <a:xfrm>
            <a:off x="1143000" y="4818888"/>
            <a:ext cx="9893808" cy="960120"/>
          </a:xfrm>
          <a:prstGeom prst="roundRect">
            <a:avLst>
              <a:gd name="adj" fmla="val 8571"/>
            </a:avLst>
          </a:prstGeom>
          <a:solidFill>
            <a:srgbClr val="FFFFFF"/>
          </a:solidFill>
          <a:ln w="12700">
            <a:solidFill>
              <a:srgbClr val="E4DCCF"/>
            </a:solidFill>
            <a:prstDash val="solid"/>
          </a:ln>
        </p:spPr>
        <p:txBody>
          <a:bodyPr/>
          <a:lstStyle/>
          <a:p>
            <a:endParaRPr lang="en-US"/>
          </a:p>
        </p:txBody>
      </p:sp>
      <p:sp>
        <p:nvSpPr>
          <p:cNvPr id="18" name="Text 16"/>
          <p:cNvSpPr/>
          <p:nvPr/>
        </p:nvSpPr>
        <p:spPr>
          <a:xfrm>
            <a:off x="1325880" y="4864608"/>
            <a:ext cx="411480" cy="457200"/>
          </a:xfrm>
          <a:prstGeom prst="rect">
            <a:avLst/>
          </a:prstGeom>
          <a:noFill/>
          <a:ln/>
        </p:spPr>
        <p:txBody>
          <a:bodyPr wrap="square" lIns="0" tIns="0" rIns="0" bIns="0" rtlCol="0" anchor="ctr"/>
          <a:lstStyle/>
          <a:p>
            <a:pPr marL="0" indent="0">
              <a:buNone/>
            </a:pPr>
            <a:r>
              <a:rPr lang="en-US" sz="3800" b="1" dirty="0">
                <a:solidFill>
                  <a:srgbClr val="C8A85E"/>
                </a:solidFill>
                <a:latin typeface="Georgia" pitchFamily="34" charset="0"/>
                <a:ea typeface="Georgia" pitchFamily="34" charset="-122"/>
                <a:cs typeface="Georgia" pitchFamily="34" charset="-120"/>
              </a:rPr>
              <a:t>“</a:t>
            </a:r>
            <a:endParaRPr lang="en-US" sz="3800" dirty="0"/>
          </a:p>
        </p:txBody>
      </p:sp>
      <p:sp>
        <p:nvSpPr>
          <p:cNvPr id="19" name="Text 17"/>
          <p:cNvSpPr/>
          <p:nvPr/>
        </p:nvSpPr>
        <p:spPr>
          <a:xfrm>
            <a:off x="1810512" y="5038344"/>
            <a:ext cx="8979408" cy="576072"/>
          </a:xfrm>
          <a:prstGeom prst="rect">
            <a:avLst/>
          </a:prstGeom>
          <a:noFill/>
          <a:ln/>
        </p:spPr>
        <p:txBody>
          <a:bodyPr wrap="square" lIns="254" tIns="254" rIns="254" bIns="254" rtlCol="0" anchor="ctr">
            <a:normAutofit/>
          </a:bodyPr>
          <a:lstStyle/>
          <a:p>
            <a:pPr marL="0" indent="0">
              <a:buNone/>
            </a:pPr>
            <a:r>
              <a:rPr lang="en-US" sz="2100" b="1" dirty="0">
                <a:solidFill>
                  <a:srgbClr val="1A1814"/>
                </a:solidFill>
                <a:latin typeface="Calibri" pitchFamily="34" charset="0"/>
                <a:ea typeface="Calibri" pitchFamily="34" charset="-122"/>
                <a:cs typeface="Calibri" pitchFamily="34" charset="-120"/>
              </a:rPr>
              <a:t>A healthy system does not make ministry less human — it makes human care more consistent.</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LIVE WALKTHROUGH</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The platform makes the system visible</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15</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868680" y="1554480"/>
            <a:ext cx="5623560" cy="3200400"/>
          </a:xfrm>
          <a:prstGeom prst="roundRect">
            <a:avLst>
              <a:gd name="adj" fmla="val 2857"/>
            </a:avLst>
          </a:prstGeom>
          <a:solidFill>
            <a:srgbClr val="12100E"/>
          </a:solidFill>
          <a:ln w="13970">
            <a:solidFill>
              <a:srgbClr val="2F2A25"/>
            </a:solidFill>
            <a:prstDash val="solid"/>
          </a:ln>
        </p:spPr>
        <p:txBody>
          <a:bodyPr/>
          <a:lstStyle/>
          <a:p>
            <a:endParaRPr lang="en-US"/>
          </a:p>
        </p:txBody>
      </p:sp>
      <p:sp>
        <p:nvSpPr>
          <p:cNvPr id="9" name="Text 7"/>
          <p:cNvSpPr/>
          <p:nvPr/>
        </p:nvSpPr>
        <p:spPr>
          <a:xfrm>
            <a:off x="1188720" y="1920240"/>
            <a:ext cx="2743200" cy="3200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OUTLET Bridge Team</a:t>
            </a:r>
            <a:endParaRPr lang="en-US" sz="2000" dirty="0"/>
          </a:p>
        </p:txBody>
      </p:sp>
      <p:sp>
        <p:nvSpPr>
          <p:cNvPr id="10" name="Text 8"/>
          <p:cNvSpPr/>
          <p:nvPr/>
        </p:nvSpPr>
        <p:spPr>
          <a:xfrm>
            <a:off x="1207008" y="2331720"/>
            <a:ext cx="3566160" cy="228600"/>
          </a:xfrm>
          <a:prstGeom prst="rect">
            <a:avLst/>
          </a:prstGeom>
          <a:noFill/>
          <a:ln/>
        </p:spPr>
        <p:txBody>
          <a:bodyPr wrap="square" lIns="0" tIns="0" rIns="0" bIns="0" rtlCol="0" anchor="ctr"/>
          <a:lstStyle/>
          <a:p>
            <a:pPr marL="0" indent="0">
              <a:buNone/>
            </a:pPr>
            <a:r>
              <a:rPr lang="en-US" sz="1100" dirty="0">
                <a:solidFill>
                  <a:srgbClr val="D7D0C5"/>
                </a:solidFill>
                <a:latin typeface="Calibri" pitchFamily="34" charset="0"/>
                <a:ea typeface="Calibri" pitchFamily="34" charset="-122"/>
                <a:cs typeface="Calibri" pitchFamily="34" charset="-120"/>
              </a:rPr>
              <a:t>Interactive Diagram + Source Docs</a:t>
            </a:r>
            <a:endParaRPr lang="en-US" sz="1100" dirty="0"/>
          </a:p>
        </p:txBody>
      </p:sp>
      <p:sp>
        <p:nvSpPr>
          <p:cNvPr id="11" name="Shape 9"/>
          <p:cNvSpPr/>
          <p:nvPr/>
        </p:nvSpPr>
        <p:spPr>
          <a:xfrm>
            <a:off x="1170432" y="2852928"/>
            <a:ext cx="1828800" cy="438912"/>
          </a:xfrm>
          <a:prstGeom prst="roundRect">
            <a:avLst>
              <a:gd name="adj" fmla="val 12500"/>
            </a:avLst>
          </a:prstGeom>
          <a:solidFill>
            <a:srgbClr val="C8A85E"/>
          </a:solidFill>
          <a:ln w="12700">
            <a:solidFill>
              <a:srgbClr val="C8A85E"/>
            </a:solidFill>
            <a:prstDash val="solid"/>
          </a:ln>
        </p:spPr>
        <p:txBody>
          <a:bodyPr/>
          <a:lstStyle/>
          <a:p>
            <a:endParaRPr lang="en-US"/>
          </a:p>
        </p:txBody>
      </p:sp>
      <p:sp>
        <p:nvSpPr>
          <p:cNvPr id="12" name="Text 10"/>
          <p:cNvSpPr/>
          <p:nvPr/>
        </p:nvSpPr>
        <p:spPr>
          <a:xfrm>
            <a:off x="1170432" y="2999232"/>
            <a:ext cx="1828800" cy="146304"/>
          </a:xfrm>
          <a:prstGeom prst="rect">
            <a:avLst/>
          </a:prstGeom>
          <a:noFill/>
          <a:ln/>
        </p:spPr>
        <p:txBody>
          <a:bodyPr wrap="square" lIns="0" tIns="0" rIns="0" bIns="0" rtlCol="0" anchor="ctr"/>
          <a:lstStyle/>
          <a:p>
            <a:pPr marL="0" indent="0" algn="ctr">
              <a:buNone/>
            </a:pPr>
            <a:r>
              <a:rPr lang="en-US" sz="1000" b="1" dirty="0">
                <a:solidFill>
                  <a:srgbClr val="12100E"/>
                </a:solidFill>
                <a:latin typeface="Calibri" pitchFamily="34" charset="0"/>
                <a:ea typeface="Calibri" pitchFamily="34" charset="-122"/>
                <a:cs typeface="Calibri" pitchFamily="34" charset="-120"/>
              </a:rPr>
              <a:t>Pipeline</a:t>
            </a:r>
            <a:endParaRPr lang="en-US" sz="1000" dirty="0"/>
          </a:p>
        </p:txBody>
      </p:sp>
      <p:sp>
        <p:nvSpPr>
          <p:cNvPr id="13" name="Shape 11"/>
          <p:cNvSpPr/>
          <p:nvPr/>
        </p:nvSpPr>
        <p:spPr>
          <a:xfrm>
            <a:off x="3273552" y="2852928"/>
            <a:ext cx="1828800" cy="438912"/>
          </a:xfrm>
          <a:prstGeom prst="roundRect">
            <a:avLst>
              <a:gd name="adj" fmla="val 12500"/>
            </a:avLst>
          </a:prstGeom>
          <a:solidFill>
            <a:srgbClr val="1B7B63"/>
          </a:solidFill>
          <a:ln w="12700">
            <a:solidFill>
              <a:srgbClr val="1B7B63"/>
            </a:solidFill>
            <a:prstDash val="solid"/>
          </a:ln>
        </p:spPr>
        <p:txBody>
          <a:bodyPr/>
          <a:lstStyle/>
          <a:p>
            <a:endParaRPr lang="en-US"/>
          </a:p>
        </p:txBody>
      </p:sp>
      <p:sp>
        <p:nvSpPr>
          <p:cNvPr id="14" name="Text 12"/>
          <p:cNvSpPr/>
          <p:nvPr/>
        </p:nvSpPr>
        <p:spPr>
          <a:xfrm>
            <a:off x="3273552" y="2999232"/>
            <a:ext cx="1828800" cy="1463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OPP</a:t>
            </a:r>
            <a:endParaRPr lang="en-US" sz="1000" dirty="0"/>
          </a:p>
        </p:txBody>
      </p:sp>
      <p:sp>
        <p:nvSpPr>
          <p:cNvPr id="15" name="Shape 13"/>
          <p:cNvSpPr/>
          <p:nvPr/>
        </p:nvSpPr>
        <p:spPr>
          <a:xfrm>
            <a:off x="1170432" y="3639312"/>
            <a:ext cx="3977640" cy="475488"/>
          </a:xfrm>
          <a:prstGeom prst="roundRect">
            <a:avLst>
              <a:gd name="adj" fmla="val 9615"/>
            </a:avLst>
          </a:prstGeom>
          <a:solidFill>
            <a:srgbClr val="2A2520"/>
          </a:solidFill>
          <a:ln w="12700">
            <a:solidFill>
              <a:srgbClr val="51483F"/>
            </a:solidFill>
            <a:prstDash val="solid"/>
          </a:ln>
        </p:spPr>
        <p:txBody>
          <a:bodyPr/>
          <a:lstStyle/>
          <a:p>
            <a:endParaRPr lang="en-US"/>
          </a:p>
        </p:txBody>
      </p:sp>
      <p:sp>
        <p:nvSpPr>
          <p:cNvPr id="16" name="Text 14"/>
          <p:cNvSpPr/>
          <p:nvPr/>
        </p:nvSpPr>
        <p:spPr>
          <a:xfrm>
            <a:off x="1325880" y="3803904"/>
            <a:ext cx="3657600" cy="146304"/>
          </a:xfrm>
          <a:prstGeom prst="rect">
            <a:avLst/>
          </a:prstGeom>
          <a:noFill/>
          <a:ln/>
        </p:spPr>
        <p:txBody>
          <a:bodyPr wrap="square" lIns="0" tIns="0" rIns="0" bIns="0" rtlCol="0" anchor="ctr">
            <a:normAutofit/>
          </a:bodyPr>
          <a:lstStyle/>
          <a:p>
            <a:pPr marL="0" indent="0">
              <a:buNone/>
            </a:pPr>
            <a:r>
              <a:rPr lang="en-US" sz="1120" dirty="0">
                <a:solidFill>
                  <a:srgbClr val="E4C576"/>
                </a:solidFill>
                <a:latin typeface="Calibri" pitchFamily="34" charset="0"/>
                <a:ea typeface="Calibri" pitchFamily="34" charset="-122"/>
                <a:cs typeface="Calibri" pitchFamily="34" charset="-120"/>
              </a:rPr>
              <a:t>outletbridgeteam.netlify.app</a:t>
            </a:r>
            <a:endParaRPr lang="en-US" sz="1120" dirty="0"/>
          </a:p>
        </p:txBody>
      </p:sp>
      <p:sp>
        <p:nvSpPr>
          <p:cNvPr id="17" name="Shape 15"/>
          <p:cNvSpPr/>
          <p:nvPr/>
        </p:nvSpPr>
        <p:spPr>
          <a:xfrm>
            <a:off x="6995160" y="1783080"/>
            <a:ext cx="4297680" cy="868680"/>
          </a:xfrm>
          <a:prstGeom prst="roundRect">
            <a:avLst>
              <a:gd name="adj" fmla="val 8421"/>
            </a:avLst>
          </a:prstGeom>
          <a:solidFill>
            <a:srgbClr val="FFFFFF"/>
          </a:solidFill>
          <a:ln w="11430">
            <a:solidFill>
              <a:srgbClr val="E6DFD2"/>
            </a:solidFill>
            <a:prstDash val="solid"/>
          </a:ln>
        </p:spPr>
        <p:txBody>
          <a:bodyPr/>
          <a:lstStyle/>
          <a:p>
            <a:endParaRPr lang="en-US"/>
          </a:p>
        </p:txBody>
      </p:sp>
      <p:sp>
        <p:nvSpPr>
          <p:cNvPr id="18" name="Shape 16"/>
          <p:cNvSpPr/>
          <p:nvPr/>
        </p:nvSpPr>
        <p:spPr>
          <a:xfrm>
            <a:off x="6995160" y="1783080"/>
            <a:ext cx="73152" cy="868680"/>
          </a:xfrm>
          <a:prstGeom prst="rect">
            <a:avLst/>
          </a:prstGeom>
          <a:solidFill>
            <a:srgbClr val="C8A85E"/>
          </a:solidFill>
          <a:ln w="12700">
            <a:solidFill>
              <a:srgbClr val="C8A85E"/>
            </a:solidFill>
            <a:prstDash val="solid"/>
          </a:ln>
        </p:spPr>
        <p:txBody>
          <a:bodyPr/>
          <a:lstStyle/>
          <a:p>
            <a:endParaRPr lang="en-US"/>
          </a:p>
        </p:txBody>
      </p:sp>
      <p:sp>
        <p:nvSpPr>
          <p:cNvPr id="19" name="Text 17"/>
          <p:cNvSpPr/>
          <p:nvPr/>
        </p:nvSpPr>
        <p:spPr>
          <a:xfrm>
            <a:off x="7223760" y="1938528"/>
            <a:ext cx="39136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What to show live</a:t>
            </a:r>
            <a:endParaRPr lang="en-US" sz="1300" dirty="0"/>
          </a:p>
        </p:txBody>
      </p:sp>
      <p:sp>
        <p:nvSpPr>
          <p:cNvPr id="20" name="Text 18"/>
          <p:cNvSpPr/>
          <p:nvPr/>
        </p:nvSpPr>
        <p:spPr>
          <a:xfrm>
            <a:off x="7251192" y="2313432"/>
            <a:ext cx="3858768" cy="21031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Diagrams</a:t>
            </a:r>
            <a:endParaRPr lang="en-US" sz="1020" dirty="0"/>
          </a:p>
          <a:p>
            <a:r>
              <a:rPr lang="en-US" sz="1020" dirty="0">
                <a:solidFill>
                  <a:srgbClr val="6F6861"/>
                </a:solidFill>
                <a:latin typeface="Calibri" pitchFamily="34" charset="0"/>
                <a:ea typeface="Calibri" pitchFamily="34" charset="-122"/>
                <a:cs typeface="Calibri" pitchFamily="34" charset="-120"/>
              </a:rPr>
              <a:t>Workflow logic</a:t>
            </a:r>
            <a:endParaRPr lang="en-US" sz="1020" dirty="0"/>
          </a:p>
          <a:p>
            <a:r>
              <a:rPr lang="en-US" sz="1020" dirty="0">
                <a:solidFill>
                  <a:srgbClr val="6F6861"/>
                </a:solidFill>
                <a:latin typeface="Calibri" pitchFamily="34" charset="0"/>
                <a:ea typeface="Calibri" pitchFamily="34" charset="-122"/>
                <a:cs typeface="Calibri" pitchFamily="34" charset="-120"/>
              </a:rPr>
              <a:t>Source documentation</a:t>
            </a:r>
            <a:endParaRPr lang="en-US" sz="1020" dirty="0"/>
          </a:p>
        </p:txBody>
      </p:sp>
      <p:sp>
        <p:nvSpPr>
          <p:cNvPr id="21" name="Shape 19"/>
          <p:cNvSpPr/>
          <p:nvPr/>
        </p:nvSpPr>
        <p:spPr>
          <a:xfrm>
            <a:off x="6995160" y="2944368"/>
            <a:ext cx="4297680" cy="1143000"/>
          </a:xfrm>
          <a:prstGeom prst="roundRect">
            <a:avLst>
              <a:gd name="adj" fmla="val 6400"/>
            </a:avLst>
          </a:prstGeom>
          <a:solidFill>
            <a:srgbClr val="FFFFFF"/>
          </a:solidFill>
          <a:ln w="11430">
            <a:solidFill>
              <a:srgbClr val="E6DFD2"/>
            </a:solidFill>
            <a:prstDash val="solid"/>
          </a:ln>
        </p:spPr>
        <p:txBody>
          <a:bodyPr/>
          <a:lstStyle/>
          <a:p>
            <a:endParaRPr lang="en-US"/>
          </a:p>
        </p:txBody>
      </p:sp>
      <p:sp>
        <p:nvSpPr>
          <p:cNvPr id="22" name="Shape 20"/>
          <p:cNvSpPr/>
          <p:nvPr/>
        </p:nvSpPr>
        <p:spPr>
          <a:xfrm>
            <a:off x="6995160" y="2944368"/>
            <a:ext cx="73152" cy="1143000"/>
          </a:xfrm>
          <a:prstGeom prst="rect">
            <a:avLst/>
          </a:prstGeom>
          <a:solidFill>
            <a:srgbClr val="1B7B63"/>
          </a:solidFill>
          <a:ln w="12700">
            <a:solidFill>
              <a:srgbClr val="1B7B63"/>
            </a:solidFill>
            <a:prstDash val="solid"/>
          </a:ln>
        </p:spPr>
        <p:txBody>
          <a:bodyPr/>
          <a:lstStyle/>
          <a:p>
            <a:endParaRPr lang="en-US"/>
          </a:p>
        </p:txBody>
      </p:sp>
      <p:sp>
        <p:nvSpPr>
          <p:cNvPr id="23" name="Text 21"/>
          <p:cNvSpPr/>
          <p:nvPr/>
        </p:nvSpPr>
        <p:spPr>
          <a:xfrm>
            <a:off x="7223760" y="3099816"/>
            <a:ext cx="39136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Why it matters</a:t>
            </a:r>
            <a:endParaRPr lang="en-US" sz="1300" dirty="0"/>
          </a:p>
        </p:txBody>
      </p:sp>
      <p:sp>
        <p:nvSpPr>
          <p:cNvPr id="24" name="Text 22"/>
          <p:cNvSpPr/>
          <p:nvPr/>
        </p:nvSpPr>
        <p:spPr>
          <a:xfrm>
            <a:off x="7251192" y="3474720"/>
            <a:ext cx="3858768" cy="48463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The system becomes trainable, reviewable, and easier to hand off to future volunteers.</a:t>
            </a:r>
            <a:endParaRPr lang="en-US" sz="1020" dirty="0"/>
          </a:p>
        </p:txBody>
      </p:sp>
      <p:sp>
        <p:nvSpPr>
          <p:cNvPr id="25" name="Shape 23"/>
          <p:cNvSpPr/>
          <p:nvPr/>
        </p:nvSpPr>
        <p:spPr>
          <a:xfrm>
            <a:off x="6995160" y="4407408"/>
            <a:ext cx="4297680" cy="960120"/>
          </a:xfrm>
          <a:prstGeom prst="roundRect">
            <a:avLst>
              <a:gd name="adj" fmla="val 7619"/>
            </a:avLst>
          </a:prstGeom>
          <a:solidFill>
            <a:srgbClr val="FFFFFF"/>
          </a:solidFill>
          <a:ln w="11430">
            <a:solidFill>
              <a:srgbClr val="E6DFD2"/>
            </a:solidFill>
            <a:prstDash val="solid"/>
          </a:ln>
        </p:spPr>
        <p:txBody>
          <a:bodyPr/>
          <a:lstStyle/>
          <a:p>
            <a:endParaRPr lang="en-US"/>
          </a:p>
        </p:txBody>
      </p:sp>
      <p:sp>
        <p:nvSpPr>
          <p:cNvPr id="26" name="Shape 24"/>
          <p:cNvSpPr/>
          <p:nvPr/>
        </p:nvSpPr>
        <p:spPr>
          <a:xfrm>
            <a:off x="6995160" y="4407408"/>
            <a:ext cx="73152" cy="960120"/>
          </a:xfrm>
          <a:prstGeom prst="rect">
            <a:avLst/>
          </a:prstGeom>
          <a:solidFill>
            <a:srgbClr val="1E4C8C"/>
          </a:solidFill>
          <a:ln w="12700">
            <a:solidFill>
              <a:srgbClr val="1E4C8C"/>
            </a:solidFill>
            <a:prstDash val="solid"/>
          </a:ln>
        </p:spPr>
        <p:txBody>
          <a:bodyPr/>
          <a:lstStyle/>
          <a:p>
            <a:endParaRPr lang="en-US"/>
          </a:p>
        </p:txBody>
      </p:sp>
      <p:sp>
        <p:nvSpPr>
          <p:cNvPr id="27" name="Text 25"/>
          <p:cNvSpPr/>
          <p:nvPr/>
        </p:nvSpPr>
        <p:spPr>
          <a:xfrm>
            <a:off x="7223760" y="4562856"/>
            <a:ext cx="391363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Framing for leadership</a:t>
            </a:r>
            <a:endParaRPr lang="en-US" sz="1300" dirty="0"/>
          </a:p>
        </p:txBody>
      </p:sp>
      <p:sp>
        <p:nvSpPr>
          <p:cNvPr id="28" name="Text 26"/>
          <p:cNvSpPr/>
          <p:nvPr/>
        </p:nvSpPr>
        <p:spPr>
          <a:xfrm>
            <a:off x="7251192" y="4937760"/>
            <a:ext cx="3858768" cy="301752"/>
          </a:xfrm>
          <a:prstGeom prst="rect">
            <a:avLst/>
          </a:prstGeom>
          <a:noFill/>
          <a:ln/>
        </p:spPr>
        <p:txBody>
          <a:bodyPr wrap="square" lIns="254" tIns="254" rIns="254" bIns="254" rtlCol="0" anchor="t">
            <a:normAutofit/>
          </a:bodyPr>
          <a:lstStyle/>
          <a:p>
            <a:r>
              <a:rPr lang="en-US" sz="1020" dirty="0">
                <a:solidFill>
                  <a:srgbClr val="6F6861"/>
                </a:solidFill>
                <a:latin typeface="Calibri" pitchFamily="34" charset="0"/>
                <a:ea typeface="Calibri" pitchFamily="34" charset="-122"/>
                <a:cs typeface="Calibri" pitchFamily="34" charset="-120"/>
              </a:rPr>
              <a:t>This is a prototype, not a final ministry product — but it shows the direction and discipline.</a:t>
            </a:r>
            <a:endParaRPr lang="en-US" sz="10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ALIGNMENT ASK</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What we need from leadership</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16</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749808" y="1600200"/>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9" name="Shape 7"/>
          <p:cNvSpPr/>
          <p:nvPr/>
        </p:nvSpPr>
        <p:spPr>
          <a:xfrm>
            <a:off x="749808" y="1600200"/>
            <a:ext cx="73152" cy="1371600"/>
          </a:xfrm>
          <a:prstGeom prst="rect">
            <a:avLst/>
          </a:prstGeom>
          <a:solidFill>
            <a:srgbClr val="C8A85E"/>
          </a:solidFill>
          <a:ln w="12700">
            <a:solidFill>
              <a:srgbClr val="C8A85E"/>
            </a:solidFill>
            <a:prstDash val="solid"/>
          </a:ln>
        </p:spPr>
        <p:txBody>
          <a:bodyPr/>
          <a:lstStyle/>
          <a:p>
            <a:endParaRPr lang="en-US"/>
          </a:p>
        </p:txBody>
      </p:sp>
      <p:sp>
        <p:nvSpPr>
          <p:cNvPr id="10" name="Text 8"/>
          <p:cNvSpPr/>
          <p:nvPr/>
        </p:nvSpPr>
        <p:spPr>
          <a:xfrm>
            <a:off x="978408" y="1755648"/>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Approval boundaries</a:t>
            </a:r>
            <a:endParaRPr lang="en-US" sz="1300" dirty="0"/>
          </a:p>
        </p:txBody>
      </p:sp>
      <p:sp>
        <p:nvSpPr>
          <p:cNvPr id="11" name="Text 9"/>
          <p:cNvSpPr/>
          <p:nvPr/>
        </p:nvSpPr>
        <p:spPr>
          <a:xfrm>
            <a:off x="978408" y="2130552"/>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What information can we collect, store, and share?</a:t>
            </a:r>
            <a:endParaRPr lang="en-US" sz="1050" dirty="0"/>
          </a:p>
        </p:txBody>
      </p:sp>
      <p:sp>
        <p:nvSpPr>
          <p:cNvPr id="12" name="Shape 10"/>
          <p:cNvSpPr/>
          <p:nvPr/>
        </p:nvSpPr>
        <p:spPr>
          <a:xfrm>
            <a:off x="4526280" y="1600200"/>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13" name="Shape 11"/>
          <p:cNvSpPr/>
          <p:nvPr/>
        </p:nvSpPr>
        <p:spPr>
          <a:xfrm>
            <a:off x="4526280" y="1600200"/>
            <a:ext cx="73152" cy="1371600"/>
          </a:xfrm>
          <a:prstGeom prst="rect">
            <a:avLst/>
          </a:prstGeom>
          <a:solidFill>
            <a:srgbClr val="1B7B63"/>
          </a:solidFill>
          <a:ln w="12700">
            <a:solidFill>
              <a:srgbClr val="1B7B63"/>
            </a:solidFill>
            <a:prstDash val="solid"/>
          </a:ln>
        </p:spPr>
        <p:txBody>
          <a:bodyPr/>
          <a:lstStyle/>
          <a:p>
            <a:endParaRPr lang="en-US"/>
          </a:p>
        </p:txBody>
      </p:sp>
      <p:sp>
        <p:nvSpPr>
          <p:cNvPr id="14" name="Text 12"/>
          <p:cNvSpPr/>
          <p:nvPr/>
        </p:nvSpPr>
        <p:spPr>
          <a:xfrm>
            <a:off x="4754880" y="1755648"/>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Escalation rules</a:t>
            </a:r>
            <a:endParaRPr lang="en-US" sz="1300" dirty="0"/>
          </a:p>
        </p:txBody>
      </p:sp>
      <p:sp>
        <p:nvSpPr>
          <p:cNvPr id="15" name="Text 13"/>
          <p:cNvSpPr/>
          <p:nvPr/>
        </p:nvSpPr>
        <p:spPr>
          <a:xfrm>
            <a:off x="4754880" y="2130552"/>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When should a volunteer hand something to leadership?</a:t>
            </a:r>
            <a:endParaRPr lang="en-US" sz="1050" dirty="0"/>
          </a:p>
        </p:txBody>
      </p:sp>
      <p:sp>
        <p:nvSpPr>
          <p:cNvPr id="16" name="Shape 14"/>
          <p:cNvSpPr/>
          <p:nvPr/>
        </p:nvSpPr>
        <p:spPr>
          <a:xfrm>
            <a:off x="8302752" y="1600200"/>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17" name="Shape 15"/>
          <p:cNvSpPr/>
          <p:nvPr/>
        </p:nvSpPr>
        <p:spPr>
          <a:xfrm>
            <a:off x="8302752" y="1600200"/>
            <a:ext cx="73152" cy="1371600"/>
          </a:xfrm>
          <a:prstGeom prst="rect">
            <a:avLst/>
          </a:prstGeom>
          <a:solidFill>
            <a:srgbClr val="1E4C8C"/>
          </a:solidFill>
          <a:ln w="12700">
            <a:solidFill>
              <a:srgbClr val="1E4C8C"/>
            </a:solidFill>
            <a:prstDash val="solid"/>
          </a:ln>
        </p:spPr>
        <p:txBody>
          <a:bodyPr/>
          <a:lstStyle/>
          <a:p>
            <a:endParaRPr lang="en-US"/>
          </a:p>
        </p:txBody>
      </p:sp>
      <p:sp>
        <p:nvSpPr>
          <p:cNvPr id="18" name="Text 16"/>
          <p:cNvSpPr/>
          <p:nvPr/>
        </p:nvSpPr>
        <p:spPr>
          <a:xfrm>
            <a:off x="8531352" y="1755648"/>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Connect Group access</a:t>
            </a:r>
            <a:endParaRPr lang="en-US" sz="1300" dirty="0"/>
          </a:p>
        </p:txBody>
      </p:sp>
      <p:sp>
        <p:nvSpPr>
          <p:cNvPr id="19" name="Text 17"/>
          <p:cNvSpPr/>
          <p:nvPr/>
        </p:nvSpPr>
        <p:spPr>
          <a:xfrm>
            <a:off x="8531352" y="2130552"/>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Which leaders, groups, and group details should the team know?</a:t>
            </a:r>
            <a:endParaRPr lang="en-US" sz="1050" dirty="0"/>
          </a:p>
        </p:txBody>
      </p:sp>
      <p:sp>
        <p:nvSpPr>
          <p:cNvPr id="20" name="Shape 18"/>
          <p:cNvSpPr/>
          <p:nvPr/>
        </p:nvSpPr>
        <p:spPr>
          <a:xfrm>
            <a:off x="749808" y="3538728"/>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21" name="Shape 19"/>
          <p:cNvSpPr/>
          <p:nvPr/>
        </p:nvSpPr>
        <p:spPr>
          <a:xfrm>
            <a:off x="749808" y="3538728"/>
            <a:ext cx="73152" cy="1371600"/>
          </a:xfrm>
          <a:prstGeom prst="rect">
            <a:avLst/>
          </a:prstGeom>
          <a:solidFill>
            <a:srgbClr val="C8A85E"/>
          </a:solidFill>
          <a:ln w="12700">
            <a:solidFill>
              <a:srgbClr val="C8A85E"/>
            </a:solidFill>
            <a:prstDash val="solid"/>
          </a:ln>
        </p:spPr>
        <p:txBody>
          <a:bodyPr/>
          <a:lstStyle/>
          <a:p>
            <a:endParaRPr lang="en-US"/>
          </a:p>
        </p:txBody>
      </p:sp>
      <p:sp>
        <p:nvSpPr>
          <p:cNvPr id="22" name="Text 20"/>
          <p:cNvSpPr/>
          <p:nvPr/>
        </p:nvSpPr>
        <p:spPr>
          <a:xfrm>
            <a:off x="978408" y="3694176"/>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Reporting rhythm</a:t>
            </a:r>
            <a:endParaRPr lang="en-US" sz="1300" dirty="0"/>
          </a:p>
        </p:txBody>
      </p:sp>
      <p:sp>
        <p:nvSpPr>
          <p:cNvPr id="23" name="Text 21"/>
          <p:cNvSpPr/>
          <p:nvPr/>
        </p:nvSpPr>
        <p:spPr>
          <a:xfrm>
            <a:off x="978408" y="4069080"/>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How often should progress, gaps, and learnings be reviewed?</a:t>
            </a:r>
            <a:endParaRPr lang="en-US" sz="1050" dirty="0"/>
          </a:p>
        </p:txBody>
      </p:sp>
      <p:sp>
        <p:nvSpPr>
          <p:cNvPr id="24" name="Shape 22"/>
          <p:cNvSpPr/>
          <p:nvPr/>
        </p:nvSpPr>
        <p:spPr>
          <a:xfrm>
            <a:off x="4526280" y="3538728"/>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25" name="Shape 23"/>
          <p:cNvSpPr/>
          <p:nvPr/>
        </p:nvSpPr>
        <p:spPr>
          <a:xfrm>
            <a:off x="4526280" y="3538728"/>
            <a:ext cx="73152" cy="1371600"/>
          </a:xfrm>
          <a:prstGeom prst="rect">
            <a:avLst/>
          </a:prstGeom>
          <a:solidFill>
            <a:srgbClr val="1B7B63"/>
          </a:solidFill>
          <a:ln w="12700">
            <a:solidFill>
              <a:srgbClr val="1B7B63"/>
            </a:solidFill>
            <a:prstDash val="solid"/>
          </a:ln>
        </p:spPr>
        <p:txBody>
          <a:bodyPr/>
          <a:lstStyle/>
          <a:p>
            <a:endParaRPr lang="en-US"/>
          </a:p>
        </p:txBody>
      </p:sp>
      <p:sp>
        <p:nvSpPr>
          <p:cNvPr id="26" name="Text 24"/>
          <p:cNvSpPr/>
          <p:nvPr/>
        </p:nvSpPr>
        <p:spPr>
          <a:xfrm>
            <a:off x="4754880" y="3694176"/>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Training expectations</a:t>
            </a:r>
            <a:endParaRPr lang="en-US" sz="1300" dirty="0"/>
          </a:p>
        </p:txBody>
      </p:sp>
      <p:sp>
        <p:nvSpPr>
          <p:cNvPr id="27" name="Text 25"/>
          <p:cNvSpPr/>
          <p:nvPr/>
        </p:nvSpPr>
        <p:spPr>
          <a:xfrm>
            <a:off x="4754880" y="4069080"/>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What tone, conduct, and spiritual standards must every volunteer follow?</a:t>
            </a:r>
            <a:endParaRPr lang="en-US" sz="1050" dirty="0"/>
          </a:p>
        </p:txBody>
      </p:sp>
      <p:sp>
        <p:nvSpPr>
          <p:cNvPr id="28" name="Shape 26"/>
          <p:cNvSpPr/>
          <p:nvPr/>
        </p:nvSpPr>
        <p:spPr>
          <a:xfrm>
            <a:off x="8302752" y="3538728"/>
            <a:ext cx="3246120" cy="1371600"/>
          </a:xfrm>
          <a:prstGeom prst="roundRect">
            <a:avLst>
              <a:gd name="adj" fmla="val 5333"/>
            </a:avLst>
          </a:prstGeom>
          <a:solidFill>
            <a:srgbClr val="FFFFFF"/>
          </a:solidFill>
          <a:ln w="11430">
            <a:solidFill>
              <a:srgbClr val="E6DFD2"/>
            </a:solidFill>
            <a:prstDash val="solid"/>
          </a:ln>
        </p:spPr>
        <p:txBody>
          <a:bodyPr/>
          <a:lstStyle/>
          <a:p>
            <a:endParaRPr lang="en-US"/>
          </a:p>
        </p:txBody>
      </p:sp>
      <p:sp>
        <p:nvSpPr>
          <p:cNvPr id="29" name="Shape 27"/>
          <p:cNvSpPr/>
          <p:nvPr/>
        </p:nvSpPr>
        <p:spPr>
          <a:xfrm>
            <a:off x="8302752" y="3538728"/>
            <a:ext cx="73152" cy="1371600"/>
          </a:xfrm>
          <a:prstGeom prst="rect">
            <a:avLst/>
          </a:prstGeom>
          <a:solidFill>
            <a:srgbClr val="1E4C8C"/>
          </a:solidFill>
          <a:ln w="12700">
            <a:solidFill>
              <a:srgbClr val="1E4C8C"/>
            </a:solidFill>
            <a:prstDash val="solid"/>
          </a:ln>
        </p:spPr>
        <p:txBody>
          <a:bodyPr/>
          <a:lstStyle/>
          <a:p>
            <a:endParaRPr lang="en-US"/>
          </a:p>
        </p:txBody>
      </p:sp>
      <p:sp>
        <p:nvSpPr>
          <p:cNvPr id="30" name="Text 28"/>
          <p:cNvSpPr/>
          <p:nvPr/>
        </p:nvSpPr>
        <p:spPr>
          <a:xfrm>
            <a:off x="8531352" y="3694176"/>
            <a:ext cx="286207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Pilot scope</a:t>
            </a:r>
            <a:endParaRPr lang="en-US" sz="1300" dirty="0"/>
          </a:p>
        </p:txBody>
      </p:sp>
      <p:sp>
        <p:nvSpPr>
          <p:cNvPr id="31" name="Text 29"/>
          <p:cNvSpPr/>
          <p:nvPr/>
        </p:nvSpPr>
        <p:spPr>
          <a:xfrm>
            <a:off x="8531352" y="4069080"/>
            <a:ext cx="2834640" cy="7132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What should the first 60–90 days focus on before expanding?</a:t>
            </a:r>
            <a:endParaRPr lang="en-US" sz="1050" dirty="0"/>
          </a:p>
        </p:txBody>
      </p:sp>
      <p:sp>
        <p:nvSpPr>
          <p:cNvPr id="32" name="Text 30"/>
          <p:cNvSpPr/>
          <p:nvPr/>
        </p:nvSpPr>
        <p:spPr>
          <a:xfrm>
            <a:off x="1005840" y="5596128"/>
            <a:ext cx="10149840" cy="320040"/>
          </a:xfrm>
          <a:prstGeom prst="rect">
            <a:avLst/>
          </a:prstGeom>
          <a:noFill/>
          <a:ln/>
        </p:spPr>
        <p:txBody>
          <a:bodyPr wrap="square" lIns="0" tIns="0" rIns="0" bIns="0" rtlCol="0" anchor="ctr"/>
          <a:lstStyle/>
          <a:p>
            <a:pPr marL="0" indent="0" algn="ctr">
              <a:buNone/>
            </a:pPr>
            <a:r>
              <a:rPr lang="en-US" sz="1630" b="1" dirty="0">
                <a:solidFill>
                  <a:srgbClr val="1A1814"/>
                </a:solidFill>
                <a:latin typeface="Calibri" pitchFamily="34" charset="0"/>
                <a:ea typeface="Calibri" pitchFamily="34" charset="-122"/>
                <a:cs typeface="Calibri" pitchFamily="34" charset="-120"/>
              </a:rPr>
              <a:t>Leadership covering gives the team confidence, boundaries, and accountability.</a:t>
            </a:r>
            <a:endParaRPr lang="en-US" sz="16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a:effectLst/>
      </p:bgPr>
    </p:bg>
    <p:spTree>
      <p:nvGrpSpPr>
        <p:cNvPr id="1" name=""/>
        <p:cNvGrpSpPr/>
        <p:nvPr/>
      </p:nvGrpSpPr>
      <p:grpSpPr>
        <a:xfrm>
          <a:off x="0" y="0"/>
          <a:ext cx="0" cy="0"/>
          <a:chOff x="0" y="0"/>
          <a:chExt cx="0" cy="0"/>
        </a:xfrm>
      </p:grpSpPr>
      <p:sp>
        <p:nvSpPr>
          <p:cNvPr id="2" name="Text 0"/>
          <p:cNvSpPr/>
          <p:nvPr/>
        </p:nvSpPr>
        <p:spPr>
          <a:xfrm>
            <a:off x="621792" y="393192"/>
            <a:ext cx="6492240" cy="201168"/>
          </a:xfrm>
          <a:prstGeom prst="rect">
            <a:avLst/>
          </a:prstGeom>
          <a:noFill/>
          <a:ln/>
        </p:spPr>
        <p:txBody>
          <a:bodyPr wrap="square" lIns="0" tIns="0" rIns="0" bIns="0" rtlCol="0" anchor="ctr"/>
          <a:lstStyle/>
          <a:p>
            <a:pPr marL="0" indent="0">
              <a:buNone/>
            </a:pPr>
            <a:r>
              <a:rPr lang="en-US" sz="850" b="1" dirty="0">
                <a:solidFill>
                  <a:srgbClr val="C8A85E"/>
                </a:solidFill>
                <a:latin typeface="Calibri" pitchFamily="34" charset="0"/>
                <a:ea typeface="Calibri" pitchFamily="34" charset="-122"/>
                <a:cs typeface="Calibri" pitchFamily="34" charset="-120"/>
              </a:rPr>
              <a:t>WHAT SUCCESS LOOKS LIKE</a:t>
            </a:r>
            <a:endParaRPr lang="en-US" sz="850" dirty="0"/>
          </a:p>
        </p:txBody>
      </p:sp>
      <p:sp>
        <p:nvSpPr>
          <p:cNvPr id="3" name="Text 1"/>
          <p:cNvSpPr/>
          <p:nvPr/>
        </p:nvSpPr>
        <p:spPr>
          <a:xfrm>
            <a:off x="594360" y="658368"/>
            <a:ext cx="8138160" cy="502920"/>
          </a:xfrm>
          <a:prstGeom prst="rect">
            <a:avLst/>
          </a:prstGeom>
          <a:noFill/>
          <a:ln/>
        </p:spPr>
        <p:txBody>
          <a:bodyPr wrap="square" lIns="0" tIns="0" rIns="0" bIns="0" rtlCol="0" anchor="ctr">
            <a:normAutofit/>
          </a:bodyPr>
          <a:lstStyle/>
          <a:p>
            <a:pPr marL="0" indent="0">
              <a:buNone/>
            </a:pPr>
            <a:r>
              <a:rPr lang="en-US" sz="2600" b="1" dirty="0">
                <a:solidFill>
                  <a:srgbClr val="1A1814"/>
                </a:solidFill>
                <a:latin typeface="Calibri" pitchFamily="34" charset="0"/>
                <a:ea typeface="Calibri" pitchFamily="34" charset="-122"/>
                <a:cs typeface="Calibri" pitchFamily="34" charset="-120"/>
              </a:rPr>
              <a:t>Success is connection, not just activity</a:t>
            </a:r>
            <a:endParaRPr lang="en-US" sz="2600" dirty="0"/>
          </a:p>
        </p:txBody>
      </p:sp>
      <p:sp>
        <p:nvSpPr>
          <p:cNvPr id="4" name="Shape 2"/>
          <p:cNvSpPr/>
          <p:nvPr/>
        </p:nvSpPr>
        <p:spPr>
          <a:xfrm>
            <a:off x="603504" y="1261872"/>
            <a:ext cx="914400" cy="0"/>
          </a:xfrm>
          <a:prstGeom prst="line">
            <a:avLst/>
          </a:prstGeom>
          <a:noFill/>
          <a:ln w="38100">
            <a:solidFill>
              <a:srgbClr val="C8A85E"/>
            </a:solidFill>
            <a:prstDash val="solid"/>
          </a:ln>
        </p:spPr>
        <p:txBody>
          <a:bodyPr/>
          <a:lstStyle/>
          <a:p>
            <a:endParaRPr lang="en-US"/>
          </a:p>
        </p:txBody>
      </p:sp>
      <p:sp>
        <p:nvSpPr>
          <p:cNvPr id="5" name="Text 3"/>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6F6861"/>
                </a:solidFill>
                <a:latin typeface="Calibri" pitchFamily="34" charset="0"/>
                <a:ea typeface="Calibri" pitchFamily="34" charset="-122"/>
                <a:cs typeface="Calibri" pitchFamily="34" charset="-120"/>
              </a:rPr>
              <a:t>OUTLET Bridge Team</a:t>
            </a:r>
            <a:endParaRPr lang="en-US" sz="750" dirty="0"/>
          </a:p>
        </p:txBody>
      </p:sp>
      <p:sp>
        <p:nvSpPr>
          <p:cNvPr id="6" name="Text 4"/>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C8A85E"/>
                </a:solidFill>
                <a:latin typeface="Calibri" pitchFamily="34" charset="0"/>
                <a:ea typeface="Calibri" pitchFamily="34" charset="-122"/>
                <a:cs typeface="Calibri" pitchFamily="34" charset="-120"/>
              </a:rPr>
              <a:t>17</a:t>
            </a:r>
            <a:endParaRPr lang="en-US" sz="800" dirty="0"/>
          </a:p>
        </p:txBody>
      </p:sp>
      <p:sp>
        <p:nvSpPr>
          <p:cNvPr id="7" name="Shape 5"/>
          <p:cNvSpPr/>
          <p:nvPr/>
        </p:nvSpPr>
        <p:spPr>
          <a:xfrm>
            <a:off x="502920" y="6345936"/>
            <a:ext cx="11109960" cy="0"/>
          </a:xfrm>
          <a:prstGeom prst="line">
            <a:avLst/>
          </a:prstGeom>
          <a:noFill/>
          <a:ln w="7620">
            <a:solidFill>
              <a:srgbClr val="DDD6CB"/>
            </a:solidFill>
            <a:prstDash val="solid"/>
          </a:ln>
        </p:spPr>
        <p:txBody>
          <a:bodyPr/>
          <a:lstStyle/>
          <a:p>
            <a:endParaRPr lang="en-US"/>
          </a:p>
        </p:txBody>
      </p:sp>
      <p:sp>
        <p:nvSpPr>
          <p:cNvPr id="8" name="Shape 6"/>
          <p:cNvSpPr/>
          <p:nvPr/>
        </p:nvSpPr>
        <p:spPr>
          <a:xfrm>
            <a:off x="960120" y="1508760"/>
            <a:ext cx="10287000" cy="1051560"/>
          </a:xfrm>
          <a:prstGeom prst="roundRect">
            <a:avLst>
              <a:gd name="adj" fmla="val 7826"/>
            </a:avLst>
          </a:prstGeom>
          <a:solidFill>
            <a:srgbClr val="FFFFFF"/>
          </a:solidFill>
          <a:ln w="12700">
            <a:solidFill>
              <a:srgbClr val="E4DCCF"/>
            </a:solidFill>
            <a:prstDash val="solid"/>
          </a:ln>
        </p:spPr>
        <p:txBody>
          <a:bodyPr/>
          <a:lstStyle/>
          <a:p>
            <a:endParaRPr lang="en-US"/>
          </a:p>
        </p:txBody>
      </p:sp>
      <p:sp>
        <p:nvSpPr>
          <p:cNvPr id="9" name="Text 7"/>
          <p:cNvSpPr/>
          <p:nvPr/>
        </p:nvSpPr>
        <p:spPr>
          <a:xfrm>
            <a:off x="1143000" y="1554480"/>
            <a:ext cx="411480" cy="457200"/>
          </a:xfrm>
          <a:prstGeom prst="rect">
            <a:avLst/>
          </a:prstGeom>
          <a:noFill/>
          <a:ln/>
        </p:spPr>
        <p:txBody>
          <a:bodyPr wrap="square" lIns="0" tIns="0" rIns="0" bIns="0" rtlCol="0" anchor="ctr"/>
          <a:lstStyle/>
          <a:p>
            <a:pPr marL="0" indent="0">
              <a:buNone/>
            </a:pPr>
            <a:r>
              <a:rPr lang="en-US" sz="3800" b="1" dirty="0">
                <a:solidFill>
                  <a:srgbClr val="C8A85E"/>
                </a:solidFill>
                <a:latin typeface="Georgia" pitchFamily="34" charset="0"/>
                <a:ea typeface="Georgia" pitchFamily="34" charset="-122"/>
                <a:cs typeface="Georgia" pitchFamily="34" charset="-120"/>
              </a:rPr>
              <a:t>“</a:t>
            </a:r>
            <a:endParaRPr lang="en-US" sz="3800" dirty="0"/>
          </a:p>
        </p:txBody>
      </p:sp>
      <p:sp>
        <p:nvSpPr>
          <p:cNvPr id="10" name="Text 8"/>
          <p:cNvSpPr/>
          <p:nvPr/>
        </p:nvSpPr>
        <p:spPr>
          <a:xfrm>
            <a:off x="1627632" y="1728216"/>
            <a:ext cx="9372600" cy="667512"/>
          </a:xfrm>
          <a:prstGeom prst="rect">
            <a:avLst/>
          </a:prstGeom>
          <a:noFill/>
          <a:ln/>
        </p:spPr>
        <p:txBody>
          <a:bodyPr wrap="square" lIns="254" tIns="254" rIns="254" bIns="254" rtlCol="0" anchor="ctr">
            <a:normAutofit/>
          </a:bodyPr>
          <a:lstStyle/>
          <a:p>
            <a:pPr marL="0" indent="0">
              <a:buNone/>
            </a:pPr>
            <a:r>
              <a:rPr lang="en-US" sz="2100" b="1" dirty="0">
                <a:solidFill>
                  <a:srgbClr val="1A1814"/>
                </a:solidFill>
                <a:latin typeface="Calibri" pitchFamily="34" charset="0"/>
                <a:ea typeface="Calibri" pitchFamily="34" charset="-122"/>
                <a:cs typeface="Calibri" pitchFamily="34" charset="-120"/>
              </a:rPr>
              <a:t>The deeper win is when a young adult moves from “I attended” to “I am known, connected, and growing.”</a:t>
            </a:r>
            <a:endParaRPr lang="en-US" sz="2100" dirty="0"/>
          </a:p>
        </p:txBody>
      </p:sp>
      <p:sp>
        <p:nvSpPr>
          <p:cNvPr id="11" name="Shape 9"/>
          <p:cNvSpPr/>
          <p:nvPr/>
        </p:nvSpPr>
        <p:spPr>
          <a:xfrm>
            <a:off x="960120" y="3154680"/>
            <a:ext cx="3063240" cy="1600200"/>
          </a:xfrm>
          <a:prstGeom prst="roundRect">
            <a:avLst>
              <a:gd name="adj" fmla="val 4571"/>
            </a:avLst>
          </a:prstGeom>
          <a:solidFill>
            <a:srgbClr val="FFFFFF"/>
          </a:solidFill>
          <a:ln w="11430">
            <a:solidFill>
              <a:srgbClr val="E6DFD2"/>
            </a:solidFill>
            <a:prstDash val="solid"/>
          </a:ln>
        </p:spPr>
        <p:txBody>
          <a:bodyPr/>
          <a:lstStyle/>
          <a:p>
            <a:endParaRPr lang="en-US"/>
          </a:p>
        </p:txBody>
      </p:sp>
      <p:sp>
        <p:nvSpPr>
          <p:cNvPr id="12" name="Shape 10"/>
          <p:cNvSpPr/>
          <p:nvPr/>
        </p:nvSpPr>
        <p:spPr>
          <a:xfrm>
            <a:off x="960120" y="3154680"/>
            <a:ext cx="73152" cy="1600200"/>
          </a:xfrm>
          <a:prstGeom prst="rect">
            <a:avLst/>
          </a:prstGeom>
          <a:solidFill>
            <a:srgbClr val="1B7B63"/>
          </a:solidFill>
          <a:ln w="12700">
            <a:solidFill>
              <a:srgbClr val="1B7B63"/>
            </a:solidFill>
            <a:prstDash val="solid"/>
          </a:ln>
        </p:spPr>
        <p:txBody>
          <a:bodyPr/>
          <a:lstStyle/>
          <a:p>
            <a:endParaRPr lang="en-US"/>
          </a:p>
        </p:txBody>
      </p:sp>
      <p:sp>
        <p:nvSpPr>
          <p:cNvPr id="13" name="Text 11"/>
          <p:cNvSpPr/>
          <p:nvPr/>
        </p:nvSpPr>
        <p:spPr>
          <a:xfrm>
            <a:off x="1188720" y="3310128"/>
            <a:ext cx="267919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Relational outcomes</a:t>
            </a:r>
            <a:endParaRPr lang="en-US" sz="1300" dirty="0"/>
          </a:p>
        </p:txBody>
      </p:sp>
      <p:sp>
        <p:nvSpPr>
          <p:cNvPr id="14" name="Text 12"/>
          <p:cNvSpPr/>
          <p:nvPr/>
        </p:nvSpPr>
        <p:spPr>
          <a:xfrm>
            <a:off x="1188720" y="3685032"/>
            <a:ext cx="2651760" cy="9418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People feel seen, remembered, and welcomed back.</a:t>
            </a:r>
            <a:endParaRPr lang="en-US" sz="1050" dirty="0"/>
          </a:p>
        </p:txBody>
      </p:sp>
      <p:sp>
        <p:nvSpPr>
          <p:cNvPr id="15" name="Shape 13"/>
          <p:cNvSpPr/>
          <p:nvPr/>
        </p:nvSpPr>
        <p:spPr>
          <a:xfrm>
            <a:off x="4709160" y="3154680"/>
            <a:ext cx="3063240" cy="1600200"/>
          </a:xfrm>
          <a:prstGeom prst="roundRect">
            <a:avLst>
              <a:gd name="adj" fmla="val 4571"/>
            </a:avLst>
          </a:prstGeom>
          <a:solidFill>
            <a:srgbClr val="FFFFFF"/>
          </a:solidFill>
          <a:ln w="11430">
            <a:solidFill>
              <a:srgbClr val="E6DFD2"/>
            </a:solidFill>
            <a:prstDash val="solid"/>
          </a:ln>
        </p:spPr>
        <p:txBody>
          <a:bodyPr/>
          <a:lstStyle/>
          <a:p>
            <a:endParaRPr lang="en-US"/>
          </a:p>
        </p:txBody>
      </p:sp>
      <p:sp>
        <p:nvSpPr>
          <p:cNvPr id="16" name="Shape 14"/>
          <p:cNvSpPr/>
          <p:nvPr/>
        </p:nvSpPr>
        <p:spPr>
          <a:xfrm>
            <a:off x="4709160" y="3154680"/>
            <a:ext cx="73152" cy="1600200"/>
          </a:xfrm>
          <a:prstGeom prst="rect">
            <a:avLst/>
          </a:prstGeom>
          <a:solidFill>
            <a:srgbClr val="C8A85E"/>
          </a:solidFill>
          <a:ln w="12700">
            <a:solidFill>
              <a:srgbClr val="C8A85E"/>
            </a:solidFill>
            <a:prstDash val="solid"/>
          </a:ln>
        </p:spPr>
        <p:txBody>
          <a:bodyPr/>
          <a:lstStyle/>
          <a:p>
            <a:endParaRPr lang="en-US"/>
          </a:p>
        </p:txBody>
      </p:sp>
      <p:sp>
        <p:nvSpPr>
          <p:cNvPr id="17" name="Text 15"/>
          <p:cNvSpPr/>
          <p:nvPr/>
        </p:nvSpPr>
        <p:spPr>
          <a:xfrm>
            <a:off x="4937760" y="3310128"/>
            <a:ext cx="267919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Pipeline outcomes</a:t>
            </a:r>
            <a:endParaRPr lang="en-US" sz="1300" dirty="0"/>
          </a:p>
        </p:txBody>
      </p:sp>
      <p:sp>
        <p:nvSpPr>
          <p:cNvPr id="18" name="Text 16"/>
          <p:cNvSpPr/>
          <p:nvPr/>
        </p:nvSpPr>
        <p:spPr>
          <a:xfrm>
            <a:off x="4937760" y="3685032"/>
            <a:ext cx="2651760" cy="9418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Follow-ups happen, group visits occur, and fit is reviewed.</a:t>
            </a:r>
            <a:endParaRPr lang="en-US" sz="1050" dirty="0"/>
          </a:p>
        </p:txBody>
      </p:sp>
      <p:sp>
        <p:nvSpPr>
          <p:cNvPr id="19" name="Shape 17"/>
          <p:cNvSpPr/>
          <p:nvPr/>
        </p:nvSpPr>
        <p:spPr>
          <a:xfrm>
            <a:off x="8458200" y="3154680"/>
            <a:ext cx="3063240" cy="1600200"/>
          </a:xfrm>
          <a:prstGeom prst="roundRect">
            <a:avLst>
              <a:gd name="adj" fmla="val 4571"/>
            </a:avLst>
          </a:prstGeom>
          <a:solidFill>
            <a:srgbClr val="FFFFFF"/>
          </a:solidFill>
          <a:ln w="11430">
            <a:solidFill>
              <a:srgbClr val="E6DFD2"/>
            </a:solidFill>
            <a:prstDash val="solid"/>
          </a:ln>
        </p:spPr>
        <p:txBody>
          <a:bodyPr/>
          <a:lstStyle/>
          <a:p>
            <a:endParaRPr lang="en-US"/>
          </a:p>
        </p:txBody>
      </p:sp>
      <p:sp>
        <p:nvSpPr>
          <p:cNvPr id="20" name="Shape 18"/>
          <p:cNvSpPr/>
          <p:nvPr/>
        </p:nvSpPr>
        <p:spPr>
          <a:xfrm>
            <a:off x="8458200" y="3154680"/>
            <a:ext cx="73152" cy="1600200"/>
          </a:xfrm>
          <a:prstGeom prst="rect">
            <a:avLst/>
          </a:prstGeom>
          <a:solidFill>
            <a:srgbClr val="1E4C8C"/>
          </a:solidFill>
          <a:ln w="12700">
            <a:solidFill>
              <a:srgbClr val="1E4C8C"/>
            </a:solidFill>
            <a:prstDash val="solid"/>
          </a:ln>
        </p:spPr>
        <p:txBody>
          <a:bodyPr/>
          <a:lstStyle/>
          <a:p>
            <a:endParaRPr lang="en-US"/>
          </a:p>
        </p:txBody>
      </p:sp>
      <p:sp>
        <p:nvSpPr>
          <p:cNvPr id="21" name="Text 19"/>
          <p:cNvSpPr/>
          <p:nvPr/>
        </p:nvSpPr>
        <p:spPr>
          <a:xfrm>
            <a:off x="8686800" y="3310128"/>
            <a:ext cx="2679192" cy="274320"/>
          </a:xfrm>
          <a:prstGeom prst="rect">
            <a:avLst/>
          </a:prstGeom>
          <a:noFill/>
          <a:ln/>
        </p:spPr>
        <p:txBody>
          <a:bodyPr wrap="square" lIns="0" tIns="0" rIns="0" bIns="0" rtlCol="0" anchor="ctr">
            <a:normAutofit/>
          </a:bodyPr>
          <a:lstStyle/>
          <a:p>
            <a:pPr marL="0" indent="0">
              <a:buNone/>
            </a:pPr>
            <a:r>
              <a:rPr lang="en-US" sz="1300" b="1" dirty="0">
                <a:solidFill>
                  <a:srgbClr val="1A1814"/>
                </a:solidFill>
                <a:latin typeface="Calibri" pitchFamily="34" charset="0"/>
                <a:ea typeface="Calibri" pitchFamily="34" charset="-122"/>
                <a:cs typeface="Calibri" pitchFamily="34" charset="-120"/>
              </a:rPr>
              <a:t>Ministry outcomes</a:t>
            </a:r>
            <a:endParaRPr lang="en-US" sz="1300" dirty="0"/>
          </a:p>
        </p:txBody>
      </p:sp>
      <p:sp>
        <p:nvSpPr>
          <p:cNvPr id="22" name="Text 20"/>
          <p:cNvSpPr/>
          <p:nvPr/>
        </p:nvSpPr>
        <p:spPr>
          <a:xfrm>
            <a:off x="8686800" y="3685032"/>
            <a:ext cx="2651760" cy="941832"/>
          </a:xfrm>
          <a:prstGeom prst="rect">
            <a:avLst/>
          </a:prstGeom>
          <a:noFill/>
          <a:ln/>
        </p:spPr>
        <p:txBody>
          <a:bodyPr wrap="square" lIns="254" tIns="254" rIns="254" bIns="254" rtlCol="0" anchor="t">
            <a:normAutofit/>
          </a:bodyPr>
          <a:lstStyle/>
          <a:p>
            <a:pPr marL="0" indent="0">
              <a:buNone/>
            </a:pPr>
            <a:r>
              <a:rPr lang="en-US" sz="1050" dirty="0">
                <a:solidFill>
                  <a:srgbClr val="6F6861"/>
                </a:solidFill>
                <a:latin typeface="Calibri" pitchFamily="34" charset="0"/>
                <a:ea typeface="Calibri" pitchFamily="34" charset="-122"/>
                <a:cs typeface="Calibri" pitchFamily="34" charset="-120"/>
              </a:rPr>
              <a:t>Connect Groups grow, retention improves, and future leaders emerge.</a:t>
            </a:r>
            <a:endParaRPr lang="en-US" sz="1050" dirty="0"/>
          </a:p>
        </p:txBody>
      </p:sp>
      <p:sp>
        <p:nvSpPr>
          <p:cNvPr id="23" name="Text 21"/>
          <p:cNvSpPr/>
          <p:nvPr/>
        </p:nvSpPr>
        <p:spPr>
          <a:xfrm>
            <a:off x="1097280" y="5394960"/>
            <a:ext cx="9966960" cy="365760"/>
          </a:xfrm>
          <a:prstGeom prst="rect">
            <a:avLst/>
          </a:prstGeom>
          <a:noFill/>
          <a:ln/>
        </p:spPr>
        <p:txBody>
          <a:bodyPr wrap="square" lIns="0" tIns="0" rIns="0" bIns="0" rtlCol="0" anchor="ctr"/>
          <a:lstStyle/>
          <a:p>
            <a:pPr marL="0" indent="0" algn="ctr">
              <a:buNone/>
            </a:pPr>
            <a:r>
              <a:rPr lang="en-US" sz="2000" b="1" dirty="0">
                <a:solidFill>
                  <a:srgbClr val="1A1814"/>
                </a:solidFill>
                <a:latin typeface="Calibri" pitchFamily="34" charset="0"/>
                <a:ea typeface="Calibri" pitchFamily="34" charset="-122"/>
                <a:cs typeface="Calibri" pitchFamily="34" charset="-120"/>
              </a:rPr>
              <a:t>Metrics help us improve. People remain the mission.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00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100E"/>
          </a:solidFill>
          <a:ln w="12700">
            <a:solidFill>
              <a:srgbClr val="12100E"/>
            </a:solidFill>
            <a:prstDash val="solid"/>
          </a:ln>
        </p:spPr>
        <p:txBody>
          <a:bodyPr/>
          <a:lstStyle/>
          <a:p>
            <a:endParaRPr lang="en-US"/>
          </a:p>
        </p:txBody>
      </p:sp>
      <p:sp>
        <p:nvSpPr>
          <p:cNvPr id="3" name="Shape 1"/>
          <p:cNvSpPr/>
          <p:nvPr/>
        </p:nvSpPr>
        <p:spPr>
          <a:xfrm>
            <a:off x="685800" y="1234440"/>
            <a:ext cx="10744200" cy="3840480"/>
          </a:xfrm>
          <a:prstGeom prst="arc">
            <a:avLst/>
          </a:prstGeom>
          <a:solidFill>
            <a:srgbClr val="12100E">
              <a:alpha val="0"/>
            </a:srgbClr>
          </a:solidFill>
          <a:ln w="38100">
            <a:solidFill>
              <a:srgbClr val="C8A85E">
                <a:alpha val="88000"/>
              </a:srgbClr>
            </a:solidFill>
            <a:prstDash val="solid"/>
          </a:ln>
        </p:spPr>
        <p:txBody>
          <a:bodyPr/>
          <a:lstStyle/>
          <a:p>
            <a:endParaRPr lang="en-US"/>
          </a:p>
        </p:txBody>
      </p:sp>
      <p:sp>
        <p:nvSpPr>
          <p:cNvPr id="4" name="Text 2"/>
          <p:cNvSpPr/>
          <p:nvPr/>
        </p:nvSpPr>
        <p:spPr>
          <a:xfrm>
            <a:off x="960120" y="1828800"/>
            <a:ext cx="10332720" cy="566928"/>
          </a:xfrm>
          <a:prstGeom prst="rect">
            <a:avLst/>
          </a:prstGeom>
          <a:noFill/>
          <a:ln/>
        </p:spPr>
        <p:txBody>
          <a:bodyPr wrap="square" lIns="0" tIns="0" rIns="0" bIns="0" rtlCol="0" anchor="ctr">
            <a:normAutofit/>
          </a:bodyPr>
          <a:lstStyle/>
          <a:p>
            <a:pPr marL="0" indent="0" algn="ctr">
              <a:buNone/>
            </a:pPr>
            <a:r>
              <a:rPr lang="en-US" sz="3400" b="1" dirty="0">
                <a:solidFill>
                  <a:srgbClr val="FFFFFF"/>
                </a:solidFill>
                <a:latin typeface="Calibri" pitchFamily="34" charset="0"/>
                <a:ea typeface="Calibri" pitchFamily="34" charset="-122"/>
                <a:cs typeface="Calibri" pitchFamily="34" charset="-120"/>
              </a:rPr>
              <a:t>Designed for Connection.</a:t>
            </a:r>
            <a:endParaRPr lang="en-US" sz="3400" dirty="0"/>
          </a:p>
        </p:txBody>
      </p:sp>
      <p:sp>
        <p:nvSpPr>
          <p:cNvPr id="5" name="Text 3"/>
          <p:cNvSpPr/>
          <p:nvPr/>
        </p:nvSpPr>
        <p:spPr>
          <a:xfrm>
            <a:off x="960120" y="2542032"/>
            <a:ext cx="10332720" cy="566928"/>
          </a:xfrm>
          <a:prstGeom prst="rect">
            <a:avLst/>
          </a:prstGeom>
          <a:noFill/>
          <a:ln/>
        </p:spPr>
        <p:txBody>
          <a:bodyPr wrap="square" lIns="0" tIns="0" rIns="0" bIns="0" rtlCol="0" anchor="ctr">
            <a:normAutofit/>
          </a:bodyPr>
          <a:lstStyle/>
          <a:p>
            <a:pPr marL="0" indent="0" algn="ctr">
              <a:buNone/>
            </a:pPr>
            <a:r>
              <a:rPr lang="en-US" sz="3400" b="1" dirty="0">
                <a:solidFill>
                  <a:srgbClr val="E4C576"/>
                </a:solidFill>
                <a:latin typeface="Calibri" pitchFamily="34" charset="0"/>
                <a:ea typeface="Calibri" pitchFamily="34" charset="-122"/>
                <a:cs typeface="Calibri" pitchFamily="34" charset="-120"/>
              </a:rPr>
              <a:t>Built for Community.</a:t>
            </a:r>
            <a:endParaRPr lang="en-US" sz="3400" dirty="0"/>
          </a:p>
        </p:txBody>
      </p:sp>
      <p:sp>
        <p:nvSpPr>
          <p:cNvPr id="6" name="Text 4"/>
          <p:cNvSpPr/>
          <p:nvPr/>
        </p:nvSpPr>
        <p:spPr>
          <a:xfrm>
            <a:off x="960120" y="3255264"/>
            <a:ext cx="10332720" cy="566928"/>
          </a:xfrm>
          <a:prstGeom prst="rect">
            <a:avLst/>
          </a:prstGeom>
          <a:noFill/>
          <a:ln/>
        </p:spPr>
        <p:txBody>
          <a:bodyPr wrap="square" lIns="0" tIns="0" rIns="0" bIns="0" rtlCol="0" anchor="ctr">
            <a:normAutofit/>
          </a:bodyPr>
          <a:lstStyle/>
          <a:p>
            <a:pPr marL="0" indent="0" algn="ctr">
              <a:buNone/>
            </a:pPr>
            <a:r>
              <a:rPr lang="en-US" sz="3400" b="1" dirty="0">
                <a:solidFill>
                  <a:srgbClr val="FFFFFF"/>
                </a:solidFill>
                <a:latin typeface="Calibri" pitchFamily="34" charset="0"/>
                <a:ea typeface="Calibri" pitchFamily="34" charset="-122"/>
                <a:cs typeface="Calibri" pitchFamily="34" charset="-120"/>
              </a:rPr>
              <a:t>Structured for Growth.</a:t>
            </a:r>
            <a:endParaRPr lang="en-US" sz="3400" dirty="0"/>
          </a:p>
        </p:txBody>
      </p:sp>
      <p:sp>
        <p:nvSpPr>
          <p:cNvPr id="7" name="Text 5"/>
          <p:cNvSpPr/>
          <p:nvPr/>
        </p:nvSpPr>
        <p:spPr>
          <a:xfrm>
            <a:off x="1508760" y="4315968"/>
            <a:ext cx="9144000" cy="411480"/>
          </a:xfrm>
          <a:prstGeom prst="rect">
            <a:avLst/>
          </a:prstGeom>
          <a:noFill/>
          <a:ln/>
        </p:spPr>
        <p:txBody>
          <a:bodyPr wrap="square" lIns="0" tIns="0" rIns="0" bIns="0" rtlCol="0" anchor="ctr">
            <a:normAutofit/>
          </a:bodyPr>
          <a:lstStyle/>
          <a:p>
            <a:pPr marL="0" indent="0" algn="ctr">
              <a:buNone/>
            </a:pPr>
            <a:r>
              <a:rPr lang="en-US" sz="1550" dirty="0">
                <a:solidFill>
                  <a:srgbClr val="D9D2C7"/>
                </a:solidFill>
                <a:latin typeface="Calibri" pitchFamily="34" charset="0"/>
                <a:ea typeface="Calibri" pitchFamily="34" charset="-122"/>
                <a:cs typeface="Calibri" pitchFamily="34" charset="-120"/>
              </a:rPr>
              <a:t>We are building a bridge so people do not just attend OUTLET — they become part of a family.</a:t>
            </a:r>
            <a:endParaRPr lang="en-US" sz="1550" dirty="0"/>
          </a:p>
        </p:txBody>
      </p:sp>
      <p:sp>
        <p:nvSpPr>
          <p:cNvPr id="8" name="Shape 6"/>
          <p:cNvSpPr/>
          <p:nvPr/>
        </p:nvSpPr>
        <p:spPr>
          <a:xfrm>
            <a:off x="4709160" y="5175504"/>
            <a:ext cx="2788920" cy="310896"/>
          </a:xfrm>
          <a:prstGeom prst="roundRect">
            <a:avLst>
              <a:gd name="adj" fmla="val 23529"/>
            </a:avLst>
          </a:prstGeom>
          <a:solidFill>
            <a:srgbClr val="C8A85E"/>
          </a:solidFill>
          <a:ln w="12700">
            <a:solidFill>
              <a:srgbClr val="C8A85E">
                <a:alpha val="0"/>
              </a:srgbClr>
            </a:solidFill>
            <a:prstDash val="solid"/>
          </a:ln>
        </p:spPr>
        <p:txBody>
          <a:bodyPr/>
          <a:lstStyle/>
          <a:p>
            <a:endParaRPr lang="en-US"/>
          </a:p>
        </p:txBody>
      </p:sp>
      <p:sp>
        <p:nvSpPr>
          <p:cNvPr id="9" name="Text 7"/>
          <p:cNvSpPr/>
          <p:nvPr/>
        </p:nvSpPr>
        <p:spPr>
          <a:xfrm>
            <a:off x="4818888" y="5248656"/>
            <a:ext cx="2569464" cy="146304"/>
          </a:xfrm>
          <a:prstGeom prst="rect">
            <a:avLst/>
          </a:prstGeom>
          <a:noFill/>
          <a:ln/>
        </p:spPr>
        <p:txBody>
          <a:bodyPr wrap="square" lIns="0" tIns="0" rIns="0" bIns="0" rtlCol="0" anchor="ctr"/>
          <a:lstStyle/>
          <a:p>
            <a:pPr marL="0" indent="0" algn="ctr">
              <a:buNone/>
            </a:pPr>
            <a:r>
              <a:rPr lang="en-US" sz="850" b="1" dirty="0">
                <a:solidFill>
                  <a:srgbClr val="12100E"/>
                </a:solidFill>
                <a:latin typeface="Calibri" pitchFamily="34" charset="0"/>
                <a:ea typeface="Calibri" pitchFamily="34" charset="-122"/>
                <a:cs typeface="Calibri" pitchFamily="34" charset="-120"/>
              </a:rPr>
              <a:t>OUTLET BRIDGE TEAM</a:t>
            </a:r>
            <a:endParaRPr lang="en-US" sz="850" dirty="0"/>
          </a:p>
        </p:txBody>
      </p:sp>
      <p:sp>
        <p:nvSpPr>
          <p:cNvPr id="10" name="Text 8"/>
          <p:cNvSpPr/>
          <p:nvPr/>
        </p:nvSpPr>
        <p:spPr>
          <a:xfrm>
            <a:off x="502920" y="6446520"/>
            <a:ext cx="3017520" cy="164592"/>
          </a:xfrm>
          <a:prstGeom prst="rect">
            <a:avLst/>
          </a:prstGeom>
          <a:noFill/>
          <a:ln/>
        </p:spPr>
        <p:txBody>
          <a:bodyPr wrap="square" lIns="0" tIns="0" rIns="0" bIns="0" rtlCol="0" anchor="ctr"/>
          <a:lstStyle/>
          <a:p>
            <a:pPr marL="0" indent="0">
              <a:buNone/>
            </a:pPr>
            <a:r>
              <a:rPr lang="en-US" sz="750" dirty="0">
                <a:solidFill>
                  <a:srgbClr val="D9D2C7"/>
                </a:solidFill>
                <a:latin typeface="Calibri" pitchFamily="34" charset="0"/>
                <a:ea typeface="Calibri" pitchFamily="34" charset="-122"/>
                <a:cs typeface="Calibri" pitchFamily="34" charset="-120"/>
              </a:rPr>
              <a:t>OUTLET Bridge Team</a:t>
            </a:r>
            <a:endParaRPr lang="en-US" sz="750" dirty="0"/>
          </a:p>
        </p:txBody>
      </p:sp>
      <p:sp>
        <p:nvSpPr>
          <p:cNvPr id="11" name="Text 9"/>
          <p:cNvSpPr/>
          <p:nvPr/>
        </p:nvSpPr>
        <p:spPr>
          <a:xfrm>
            <a:off x="11265408" y="6437376"/>
            <a:ext cx="411480" cy="182880"/>
          </a:xfrm>
          <a:prstGeom prst="rect">
            <a:avLst/>
          </a:prstGeom>
          <a:noFill/>
          <a:ln/>
        </p:spPr>
        <p:txBody>
          <a:bodyPr wrap="square" lIns="0" tIns="0" rIns="0" bIns="0" rtlCol="0" anchor="ctr"/>
          <a:lstStyle/>
          <a:p>
            <a:pPr marL="0" indent="0" algn="r">
              <a:buNone/>
            </a:pPr>
            <a:r>
              <a:rPr lang="en-US" sz="800" b="1" dirty="0">
                <a:solidFill>
                  <a:srgbClr val="E4C576"/>
                </a:solidFill>
                <a:latin typeface="Calibri" pitchFamily="34" charset="0"/>
                <a:ea typeface="Calibri" pitchFamily="34" charset="-122"/>
                <a:cs typeface="Calibri" pitchFamily="34" charset="-120"/>
              </a:rPr>
              <a:t>18</a:t>
            </a:r>
            <a:endParaRPr lang="en-US" sz="800" dirty="0"/>
          </a:p>
        </p:txBody>
      </p:sp>
      <p:sp>
        <p:nvSpPr>
          <p:cNvPr id="12" name="Shape 10"/>
          <p:cNvSpPr/>
          <p:nvPr/>
        </p:nvSpPr>
        <p:spPr>
          <a:xfrm>
            <a:off x="502920" y="6345936"/>
            <a:ext cx="11109960" cy="0"/>
          </a:xfrm>
          <a:prstGeom prst="line">
            <a:avLst/>
          </a:prstGeom>
          <a:noFill/>
          <a:ln w="7620">
            <a:solidFill>
              <a:srgbClr val="3B342D"/>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4039</Words>
  <Application>Microsoft Office PowerPoint</Application>
  <PresentationFormat>Widescreen</PresentationFormat>
  <Paragraphs>329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LinkedUP Church / The OUTLET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OUTLET Bridge Team: Building the Bridge Between Attendance and Community</dc:title>
  <dc:subject>OUTLET Bridge Team onboarding and leadership alignment presentation</dc:subject>
  <dc:creator>OUTLET Bridge Team</dc:creator>
  <cp:lastModifiedBy>Nwanne737, Sage</cp:lastModifiedBy>
  <cp:revision>2</cp:revision>
  <dcterms:created xsi:type="dcterms:W3CDTF">2026-05-10T02:52:37Z</dcterms:created>
  <dcterms:modified xsi:type="dcterms:W3CDTF">2026-05-10T02:54:51Z</dcterms:modified>
</cp:coreProperties>
</file>